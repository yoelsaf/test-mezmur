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1" r:id="rId2"/>
    <p:sldId id="335" r:id="rId3"/>
    <p:sldId id="256" r:id="rId4"/>
    <p:sldId id="334" r:id="rId5"/>
    <p:sldId id="257" r:id="rId6"/>
    <p:sldId id="336" r:id="rId7"/>
    <p:sldId id="258" r:id="rId8"/>
    <p:sldId id="259" r:id="rId9"/>
    <p:sldId id="261" r:id="rId10"/>
    <p:sldId id="262" r:id="rId11"/>
    <p:sldId id="339" r:id="rId12"/>
    <p:sldId id="340" r:id="rId13"/>
    <p:sldId id="263" r:id="rId14"/>
    <p:sldId id="331" r:id="rId15"/>
    <p:sldId id="292" r:id="rId16"/>
    <p:sldId id="293" r:id="rId17"/>
    <p:sldId id="315" r:id="rId18"/>
    <p:sldId id="295" r:id="rId19"/>
    <p:sldId id="316" r:id="rId20"/>
    <p:sldId id="297" r:id="rId21"/>
    <p:sldId id="305" r:id="rId22"/>
    <p:sldId id="306" r:id="rId23"/>
    <p:sldId id="338" r:id="rId24"/>
    <p:sldId id="307" r:id="rId25"/>
    <p:sldId id="308" r:id="rId26"/>
    <p:sldId id="314" r:id="rId27"/>
    <p:sldId id="344" r:id="rId28"/>
    <p:sldId id="332" r:id="rId29"/>
    <p:sldId id="299" r:id="rId30"/>
    <p:sldId id="337" r:id="rId31"/>
    <p:sldId id="317" r:id="rId32"/>
    <p:sldId id="302" r:id="rId33"/>
    <p:sldId id="303" r:id="rId34"/>
    <p:sldId id="301" r:id="rId35"/>
    <p:sldId id="304" r:id="rId36"/>
    <p:sldId id="270" r:id="rId37"/>
    <p:sldId id="271" r:id="rId38"/>
    <p:sldId id="318" r:id="rId39"/>
    <p:sldId id="274" r:id="rId40"/>
    <p:sldId id="275" r:id="rId41"/>
    <p:sldId id="319" r:id="rId42"/>
    <p:sldId id="320" r:id="rId43"/>
    <p:sldId id="321" r:id="rId44"/>
    <p:sldId id="345" r:id="rId45"/>
    <p:sldId id="346" r:id="rId46"/>
    <p:sldId id="347" r:id="rId47"/>
    <p:sldId id="348" r:id="rId48"/>
    <p:sldId id="349" r:id="rId49"/>
    <p:sldId id="350" r:id="rId50"/>
    <p:sldId id="272" r:id="rId51"/>
    <p:sldId id="341" r:id="rId52"/>
    <p:sldId id="273" r:id="rId53"/>
    <p:sldId id="279" r:id="rId54"/>
    <p:sldId id="280" r:id="rId55"/>
    <p:sldId id="342" r:id="rId56"/>
    <p:sldId id="281" r:id="rId57"/>
    <p:sldId id="282" r:id="rId58"/>
    <p:sldId id="283" r:id="rId59"/>
    <p:sldId id="284" r:id="rId60"/>
    <p:sldId id="333" r:id="rId61"/>
    <p:sldId id="322" r:id="rId62"/>
    <p:sldId id="323" r:id="rId63"/>
    <p:sldId id="285" r:id="rId64"/>
    <p:sldId id="324" r:id="rId65"/>
    <p:sldId id="325" r:id="rId66"/>
    <p:sldId id="326" r:id="rId67"/>
    <p:sldId id="288" r:id="rId68"/>
    <p:sldId id="327" r:id="rId69"/>
    <p:sldId id="328" r:id="rId70"/>
    <p:sldId id="329" r:id="rId71"/>
    <p:sldId id="343" r:id="rId72"/>
    <p:sldId id="330"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p:scale>
          <a:sx n="73" d="100"/>
          <a:sy n="73" d="100"/>
        </p:scale>
        <p:origin x="-540" y="-72"/>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CFFBA78-0074-4AD0-9803-2FA2EA7559BB}" type="datetimeFigureOut">
              <a:rPr lang="en-US" smtClean="0"/>
              <a:t>8/25/2018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BE62F35-6C1A-43D8-9783-4EDA64383921}" type="slidenum">
              <a:rPr lang="en-US" smtClean="0"/>
              <a:t>‹#›</a:t>
            </a:fld>
            <a:endParaRPr lang="en-US" dirty="0"/>
          </a:p>
        </p:txBody>
      </p:sp>
    </p:spTree>
    <p:extLst>
      <p:ext uri="{BB962C8B-B14F-4D97-AF65-F5344CB8AC3E}">
        <p14:creationId xmlns:p14="http://schemas.microsoft.com/office/powerpoint/2010/main" val="4096328931"/>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FFBA78-0074-4AD0-9803-2FA2EA7559BB}" type="datetimeFigureOut">
              <a:rPr lang="en-US" smtClean="0"/>
              <a:t>8/25/2018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BE62F35-6C1A-43D8-9783-4EDA64383921}" type="slidenum">
              <a:rPr lang="en-US" smtClean="0"/>
              <a:t>‹#›</a:t>
            </a:fld>
            <a:endParaRPr lang="en-US" dirty="0"/>
          </a:p>
        </p:txBody>
      </p:sp>
    </p:spTree>
    <p:extLst>
      <p:ext uri="{BB962C8B-B14F-4D97-AF65-F5344CB8AC3E}">
        <p14:creationId xmlns:p14="http://schemas.microsoft.com/office/powerpoint/2010/main" val="990120357"/>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FFBA78-0074-4AD0-9803-2FA2EA7559BB}" type="datetimeFigureOut">
              <a:rPr lang="en-US" smtClean="0"/>
              <a:t>8/25/2018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BE62F35-6C1A-43D8-9783-4EDA64383921}" type="slidenum">
              <a:rPr lang="en-US" smtClean="0"/>
              <a:t>‹#›</a:t>
            </a:fld>
            <a:endParaRPr lang="en-US" dirty="0"/>
          </a:p>
        </p:txBody>
      </p:sp>
    </p:spTree>
    <p:extLst>
      <p:ext uri="{BB962C8B-B14F-4D97-AF65-F5344CB8AC3E}">
        <p14:creationId xmlns:p14="http://schemas.microsoft.com/office/powerpoint/2010/main" val="2486458437"/>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CFFBA78-0074-4AD0-9803-2FA2EA7559BB}" type="datetimeFigureOut">
              <a:rPr lang="en-US" smtClean="0"/>
              <a:t>8/25/2018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BE62F35-6C1A-43D8-9783-4EDA64383921}" type="slidenum">
              <a:rPr lang="en-US" smtClean="0"/>
              <a:t>‹#›</a:t>
            </a:fld>
            <a:endParaRPr lang="en-US" dirty="0"/>
          </a:p>
        </p:txBody>
      </p:sp>
    </p:spTree>
    <p:extLst>
      <p:ext uri="{BB962C8B-B14F-4D97-AF65-F5344CB8AC3E}">
        <p14:creationId xmlns:p14="http://schemas.microsoft.com/office/powerpoint/2010/main" val="3004252071"/>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CFFBA78-0074-4AD0-9803-2FA2EA7559BB}" type="datetimeFigureOut">
              <a:rPr lang="en-US" smtClean="0"/>
              <a:t>8/25/2018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BE62F35-6C1A-43D8-9783-4EDA64383921}" type="slidenum">
              <a:rPr lang="en-US" smtClean="0"/>
              <a:t>‹#›</a:t>
            </a:fld>
            <a:endParaRPr lang="en-US" dirty="0"/>
          </a:p>
        </p:txBody>
      </p:sp>
    </p:spTree>
    <p:extLst>
      <p:ext uri="{BB962C8B-B14F-4D97-AF65-F5344CB8AC3E}">
        <p14:creationId xmlns:p14="http://schemas.microsoft.com/office/powerpoint/2010/main" val="1250290431"/>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CFFBA78-0074-4AD0-9803-2FA2EA7559BB}" type="datetimeFigureOut">
              <a:rPr lang="en-US" smtClean="0"/>
              <a:t>8/25/2018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BE62F35-6C1A-43D8-9783-4EDA64383921}" type="slidenum">
              <a:rPr lang="en-US" smtClean="0"/>
              <a:t>‹#›</a:t>
            </a:fld>
            <a:endParaRPr lang="en-US" dirty="0"/>
          </a:p>
        </p:txBody>
      </p:sp>
    </p:spTree>
    <p:extLst>
      <p:ext uri="{BB962C8B-B14F-4D97-AF65-F5344CB8AC3E}">
        <p14:creationId xmlns:p14="http://schemas.microsoft.com/office/powerpoint/2010/main" val="372073576"/>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FFBA78-0074-4AD0-9803-2FA2EA7559BB}" type="datetimeFigureOut">
              <a:rPr lang="en-US" smtClean="0"/>
              <a:t>8/25/2018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BE62F35-6C1A-43D8-9783-4EDA64383921}" type="slidenum">
              <a:rPr lang="en-US" smtClean="0"/>
              <a:t>‹#›</a:t>
            </a:fld>
            <a:endParaRPr lang="en-US" dirty="0"/>
          </a:p>
        </p:txBody>
      </p:sp>
    </p:spTree>
    <p:extLst>
      <p:ext uri="{BB962C8B-B14F-4D97-AF65-F5344CB8AC3E}">
        <p14:creationId xmlns:p14="http://schemas.microsoft.com/office/powerpoint/2010/main" val="2916498685"/>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FFBA78-0074-4AD0-9803-2FA2EA7559BB}" type="datetimeFigureOut">
              <a:rPr lang="en-US" smtClean="0"/>
              <a:t>8/25/2018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BE62F35-6C1A-43D8-9783-4EDA64383921}" type="slidenum">
              <a:rPr lang="en-US" smtClean="0"/>
              <a:t>‹#›</a:t>
            </a:fld>
            <a:endParaRPr lang="en-US" dirty="0"/>
          </a:p>
        </p:txBody>
      </p:sp>
    </p:spTree>
    <p:extLst>
      <p:ext uri="{BB962C8B-B14F-4D97-AF65-F5344CB8AC3E}">
        <p14:creationId xmlns:p14="http://schemas.microsoft.com/office/powerpoint/2010/main" val="2124751107"/>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FFBA78-0074-4AD0-9803-2FA2EA7559BB}" type="datetimeFigureOut">
              <a:rPr lang="en-US" smtClean="0"/>
              <a:t>8/25/2018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BE62F35-6C1A-43D8-9783-4EDA64383921}" type="slidenum">
              <a:rPr lang="en-US" smtClean="0"/>
              <a:t>‹#›</a:t>
            </a:fld>
            <a:endParaRPr lang="en-US" dirty="0"/>
          </a:p>
        </p:txBody>
      </p:sp>
    </p:spTree>
    <p:extLst>
      <p:ext uri="{BB962C8B-B14F-4D97-AF65-F5344CB8AC3E}">
        <p14:creationId xmlns:p14="http://schemas.microsoft.com/office/powerpoint/2010/main" val="2481835733"/>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FFBA78-0074-4AD0-9803-2FA2EA7559BB}" type="datetimeFigureOut">
              <a:rPr lang="en-US" smtClean="0"/>
              <a:t>8/25/2018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BE62F35-6C1A-43D8-9783-4EDA64383921}" type="slidenum">
              <a:rPr lang="en-US" smtClean="0"/>
              <a:t>‹#›</a:t>
            </a:fld>
            <a:endParaRPr lang="en-US" dirty="0"/>
          </a:p>
        </p:txBody>
      </p:sp>
    </p:spTree>
    <p:extLst>
      <p:ext uri="{BB962C8B-B14F-4D97-AF65-F5344CB8AC3E}">
        <p14:creationId xmlns:p14="http://schemas.microsoft.com/office/powerpoint/2010/main" val="759123383"/>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FFBA78-0074-4AD0-9803-2FA2EA7559BB}" type="datetimeFigureOut">
              <a:rPr lang="en-US" smtClean="0"/>
              <a:t>8/25/2018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BE62F35-6C1A-43D8-9783-4EDA64383921}" type="slidenum">
              <a:rPr lang="en-US" smtClean="0"/>
              <a:t>‹#›</a:t>
            </a:fld>
            <a:endParaRPr lang="en-US" dirty="0"/>
          </a:p>
        </p:txBody>
      </p:sp>
    </p:spTree>
    <p:extLst>
      <p:ext uri="{BB962C8B-B14F-4D97-AF65-F5344CB8AC3E}">
        <p14:creationId xmlns:p14="http://schemas.microsoft.com/office/powerpoint/2010/main" val="3408944940"/>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4000" b="-14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FFBA78-0074-4AD0-9803-2FA2EA7559BB}" type="datetimeFigureOut">
              <a:rPr lang="en-US" smtClean="0"/>
              <a:t>8/25/2018</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E62F35-6C1A-43D8-9783-4EDA64383921}" type="slidenum">
              <a:rPr lang="en-US" smtClean="0"/>
              <a:t>‹#›</a:t>
            </a:fld>
            <a:endParaRPr lang="en-US" dirty="0"/>
          </a:p>
        </p:txBody>
      </p:sp>
    </p:spTree>
    <p:extLst>
      <p:ext uri="{BB962C8B-B14F-4D97-AF65-F5344CB8AC3E}">
        <p14:creationId xmlns:p14="http://schemas.microsoft.com/office/powerpoint/2010/main" val="3489466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1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07605" y="274323"/>
            <a:ext cx="11181517" cy="2870771"/>
          </a:xfrm>
        </p:spPr>
        <p:txBody>
          <a:bodyPr>
            <a:normAutofit/>
            <a:scene3d>
              <a:camera prst="perspectiveHeroicExtremeRightFacing"/>
              <a:lightRig rig="soft" dir="tl">
                <a:rot lat="0" lon="0" rev="0"/>
              </a:lightRig>
            </a:scene3d>
            <a:sp3d extrusionH="57150" contourW="25400" prstMaterial="matte">
              <a:bevelT w="25400" h="55880" prst="artDeco"/>
              <a:contourClr>
                <a:schemeClr val="accent2">
                  <a:tint val="20000"/>
                </a:schemeClr>
              </a:contourClr>
            </a:sp3d>
          </a:bodyPr>
          <a:lstStyle/>
          <a:p>
            <a:r>
              <a:rPr lang="en-GB" sz="18000" b="1" spc="50" dirty="0">
                <a:ln w="9525"/>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2">
                      <a:satMod val="175000"/>
                      <a:alpha val="40000"/>
                    </a:schemeClr>
                  </a:glow>
                  <a:outerShdw blurRad="76200" dist="50800" dir="5400000" algn="tl" rotWithShape="0">
                    <a:srgbClr val="000000">
                      <a:alpha val="65000"/>
                    </a:srgbClr>
                  </a:outerShdw>
                </a:effectLst>
              </a:rPr>
              <a:t>ሥ</a:t>
            </a:r>
            <a:r>
              <a:rPr lang="am-ET" sz="18000" b="1" spc="50" dirty="0" smtClean="0">
                <a:ln w="9525"/>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2">
                      <a:satMod val="175000"/>
                      <a:alpha val="40000"/>
                    </a:schemeClr>
                  </a:glow>
                  <a:outerShdw blurRad="76200" dist="50800" dir="5400000" algn="tl" rotWithShape="0">
                    <a:srgbClr val="000000">
                      <a:alpha val="65000"/>
                    </a:srgbClr>
                  </a:outerShdw>
                </a:effectLst>
              </a:rPr>
              <a:t>ርዓተ ቅዳሴ</a:t>
            </a:r>
            <a:endParaRPr lang="en-US" sz="18000" b="1" spc="50" dirty="0">
              <a:ln w="9525"/>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2">
                    <a:satMod val="175000"/>
                    <a:alpha val="40000"/>
                  </a:schemeClr>
                </a:glow>
                <a:outerShdw blurRad="76200" dist="50800" dir="5400000" algn="tl" rotWithShape="0">
                  <a:srgbClr val="000000">
                    <a:alpha val="65000"/>
                  </a:srgbClr>
                </a:outerShdw>
              </a:effectLst>
            </a:endParaRPr>
          </a:p>
        </p:txBody>
      </p:sp>
      <p:sp>
        <p:nvSpPr>
          <p:cNvPr id="3" name="Title 1"/>
          <p:cNvSpPr txBox="1">
            <a:spLocks/>
          </p:cNvSpPr>
          <p:nvPr/>
        </p:nvSpPr>
        <p:spPr>
          <a:xfrm>
            <a:off x="3715402" y="3913861"/>
            <a:ext cx="7967144" cy="2805455"/>
          </a:xfrm>
          <a:prstGeom prst="rect">
            <a:avLst/>
          </a:prstGeom>
        </p:spPr>
        <p:txBody>
          <a:bodyPr vert="horz" lIns="91440" tIns="45720" rIns="91440" bIns="45720" rtlCol="0" anchor="b">
            <a:normAutofit lnSpcReduction="10000"/>
            <a:scene3d>
              <a:camera prst="obliqueTopRight"/>
              <a:lightRig rig="soft" dir="tl">
                <a:rot lat="0" lon="0" rev="0"/>
              </a:lightRig>
            </a:scene3d>
            <a:sp3d extrusionH="57150" contourW="25400" prstMaterial="matte">
              <a:bevelT w="25400" h="55880" prst="artDeco"/>
              <a:contourClr>
                <a:schemeClr val="accent2">
                  <a:tint val="20000"/>
                </a:schemeClr>
              </a:contourClr>
            </a:sp3d>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am-ET" sz="20800" b="1" spc="50" dirty="0" smtClean="0">
                <a:ln w="9525"/>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2">
                      <a:satMod val="175000"/>
                      <a:alpha val="40000"/>
                    </a:schemeClr>
                  </a:glow>
                  <a:outerShdw blurRad="76200" dist="50800" dir="5400000" algn="tl" rotWithShape="0">
                    <a:srgbClr val="000000">
                      <a:alpha val="65000"/>
                    </a:srgbClr>
                  </a:outerShdw>
                </a:effectLst>
              </a:rPr>
              <a:t>ግዕዝ</a:t>
            </a:r>
            <a:endParaRPr lang="en-US" sz="10000" b="1" spc="50" dirty="0">
              <a:ln w="9525"/>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2">
                    <a:satMod val="175000"/>
                    <a:alpha val="40000"/>
                  </a:schemeClr>
                </a:glow>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104047331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39244"/>
            <a:ext cx="12192000" cy="5158042"/>
          </a:xfrm>
        </p:spPr>
        <p:txBody>
          <a:bodyPr>
            <a:normAutofit/>
          </a:bodyPr>
          <a:lstStyle/>
          <a:p>
            <a:pPr algn="just"/>
            <a:r>
              <a:rPr lang="en-US" sz="6600" b="1" dirty="0" smtClean="0">
                <a:ln w="10160">
                  <a:solidFill>
                    <a:schemeClr val="bg1"/>
                  </a:solidFill>
                  <a:prstDash val="solid"/>
                </a:ln>
                <a:solidFill>
                  <a:srgbClr val="FFFFFF"/>
                </a:solidFill>
                <a:effectLst>
                  <a:glow rad="101600">
                    <a:srgbClr val="000000">
                      <a:alpha val="60000"/>
                    </a:srgbClr>
                  </a:glow>
                  <a:outerShdw blurRad="38100" dist="22860" dir="5400000" algn="tl" rotWithShape="0">
                    <a:srgbClr val="000000">
                      <a:alpha val="30000"/>
                    </a:srgbClr>
                  </a:outerShdw>
                </a:effectLst>
              </a:rPr>
              <a:t>	</a:t>
            </a:r>
            <a:r>
              <a:rPr lang="en-GB" sz="8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እምነ በሐ ቅድስት ቤተ-ክርስትያን ሥርጉት ኣረፋቲሀ ወስእልት በዕንቈ ጳዝዮን: እምነ በሐ ቅድስት ቤተ-ክርስትያን</a:t>
            </a:r>
            <a:r>
              <a:rPr lang="am-ET" sz="8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a:t>
            </a:r>
            <a:endPar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237303187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71523"/>
            <a:ext cx="12192000" cy="5122966"/>
          </a:xfrm>
        </p:spPr>
        <p:txBody>
          <a:bodyPr>
            <a:normAutofit/>
          </a:bodyPr>
          <a:lstStyle/>
          <a:p>
            <a:pPr algn="just"/>
            <a:r>
              <a:rPr lang="en-US" sz="6600" b="1" dirty="0" smtClean="0">
                <a:ln w="10160">
                  <a:solidFill>
                    <a:schemeClr val="bg1"/>
                  </a:solidFill>
                  <a:prstDash val="solid"/>
                </a:ln>
                <a:solidFill>
                  <a:srgbClr val="FFFFFF"/>
                </a:solidFill>
                <a:effectLst>
                  <a:glow rad="101600">
                    <a:srgbClr val="000000">
                      <a:alpha val="60000"/>
                    </a:srgbClr>
                  </a:glow>
                  <a:outerShdw blurRad="38100" dist="22860" dir="5400000" algn="tl" rotWithShape="0">
                    <a:srgbClr val="000000">
                      <a:alpha val="30000"/>
                    </a:srgbClr>
                  </a:outerShdw>
                </a:effectLst>
              </a:rPr>
              <a:t>	</a:t>
            </a:r>
            <a:r>
              <a:rPr lang="en-GB" sz="8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መስቀል ኣብርሀ: በከዋክብት ኣሠርገወ ሰማየ: እምኩሉሰ ፀሐይ ኣርኣየ: መስቀል ኣብርሀ: በከዋክብት ኣሠርገወ ሰማየ</a:t>
            </a:r>
            <a:r>
              <a:rPr lang="am-ET" sz="8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a:t>
            </a:r>
            <a:endParaRPr lang="en-US" sz="8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46927418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3199"/>
            <a:ext cx="12192000" cy="5779911"/>
          </a:xfrm>
        </p:spPr>
        <p:txBody>
          <a:bodyPr>
            <a:normAutofit/>
          </a:bodyPr>
          <a:lstStyle/>
          <a:p>
            <a:pPr algn="just"/>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7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ኩሉ ዘገብራ ለጽድቅ ጻድቅ ውእቱ</a:t>
            </a:r>
            <a:r>
              <a:rPr lang="en-US" sz="7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r>
              <a:rPr lang="am-ET" sz="7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ወዘያከብር ሰንበት</a:t>
            </a:r>
            <a:r>
              <a:rPr lang="en-US" sz="7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r>
              <a:rPr lang="am-ET" sz="7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ኢይበል ፈላሲ ዘገብአ ኀበ እግዚኣብሔር</a:t>
            </a:r>
            <a:r>
              <a:rPr lang="en-US" sz="7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r>
              <a:rPr lang="am-ET" sz="7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ይፈልጠኒኑ እምሕዝቡ</a:t>
            </a:r>
            <a:r>
              <a:rPr lang="en-US" sz="7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r>
              <a:rPr lang="am-ET" sz="7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ኩሉ ዘገብራ ለጽድቅ ጻድቅ ውእቱ። ወዘያከብር ሰንበት</a:t>
            </a:r>
            <a:r>
              <a:rPr lang="am-ET" sz="7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a:t>
            </a:r>
            <a:endParaRPr lang="en-US" sz="7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141773116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8972"/>
            <a:ext cx="12192000" cy="7017871"/>
          </a:xfrm>
        </p:spPr>
        <p:txBody>
          <a:bodyPr>
            <a:normAutofit/>
          </a:bodyPr>
          <a:lstStyle/>
          <a:p>
            <a:pPr marL="0" indent="0" algn="just">
              <a:buNone/>
            </a:pPr>
            <a:r>
              <a:rPr lang="en-US"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ሃሌ ሉያ እመቦ ብእሲ እምእመናን ዘቦኣ ቤተ ክርስትያን በግዜ ቅዳሴ፡ ወሰም</a:t>
            </a:r>
            <a:r>
              <a:rPr lang="en-US" sz="6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ዐ</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መጻሕፍተ ቅዱሳ</a:t>
            </a:r>
            <a:r>
              <a:rPr lang="en-US" sz="6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ተ</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ወኢተ</a:t>
            </a:r>
            <a:r>
              <a:rPr lang="en-US" sz="6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ዐ</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ገ</a:t>
            </a:r>
            <a:r>
              <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ሠ</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እስከ ይፈጽሙ ጸሎተ ቅዳሴ፡ ወኢተመጠወ እምቁርባን፡ ለይሰ</a:t>
            </a:r>
            <a:r>
              <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ደ</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ድ እም ቤተክርስትያን፡ እስመ </a:t>
            </a:r>
            <a:r>
              <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ማሰነ ሕገ እግዚኣብሔር ወኣስተሓቀረ ቁመተ</a:t>
            </a:r>
            <a:r>
              <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ቅድመ ንጉ</a:t>
            </a:r>
            <a:r>
              <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ሰማያዊ ንጉ</a:t>
            </a:r>
            <a:r>
              <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ሠ</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ጋ ወመንፈስ። ከመዝ መ</a:t>
            </a:r>
            <a:r>
              <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ሀ</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ሩነ ሓዋርያት በ</a:t>
            </a:r>
            <a:r>
              <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ብጥሊሶሙ።</a:t>
            </a:r>
            <a:endParaRPr lang="en-US" sz="6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368500119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79276"/>
            <a:ext cx="12192000" cy="5481257"/>
          </a:xfrm>
        </p:spPr>
        <p:txBody>
          <a:bodyPr>
            <a:normAutofit lnSpcReduction="10000"/>
          </a:bodyPr>
          <a:lstStyle/>
          <a:p>
            <a:pPr marL="0" indent="0" algn="just">
              <a:buNone/>
            </a:pPr>
            <a:r>
              <a:rPr lang="en-US" sz="8000" b="1" dirty="0" smtClean="0">
                <a:ln w="10160">
                  <a:solidFill>
                    <a:schemeClr val="bg1"/>
                  </a:solidFill>
                  <a:prstDash val="solid"/>
                </a:ln>
                <a:solidFill>
                  <a:srgbClr val="FFFFFF"/>
                </a:solidFill>
                <a:effectLst>
                  <a:glow rad="101600">
                    <a:srgbClr val="000000">
                      <a:alpha val="60000"/>
                    </a:srgbClr>
                  </a:glow>
                  <a:outerShdw blurRad="38100" dist="22860" dir="5400000" algn="tl" rotWithShape="0">
                    <a:srgbClr val="000000">
                      <a:alpha val="30000"/>
                    </a:srgbClr>
                  </a:outerShdw>
                </a:effectLst>
              </a:rPr>
              <a:t>	</a:t>
            </a:r>
            <a:r>
              <a:rPr lang="en-GB" sz="120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latin typeface="Ethiopic Yigezu Bisrat Goffer" pitchFamily="50" charset="0"/>
              </a:rPr>
              <a:t>ሃ</a:t>
            </a:r>
            <a:r>
              <a:rPr lang="en-GB" sz="96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ሌ ሉያ ዮሴፍ ወኒቆዲሞስ ገነዝዎ ለኢየሱስ በስንዱናት ለዘተንሥአ እሙታን በመንክር ኪን</a:t>
            </a:r>
            <a:r>
              <a:rPr lang="am-ET" sz="88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a:t>
            </a:r>
            <a:endParaRPr lang="en-US" sz="8000" b="1" dirty="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193728564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48613"/>
            <a:ext cx="12192000" cy="4736188"/>
          </a:xfrm>
        </p:spPr>
        <p:txBody>
          <a:bodyPr>
            <a:normAutofit lnSpcReduction="10000"/>
          </a:bodyPr>
          <a:lstStyle/>
          <a:p>
            <a:pPr marL="0" indent="0" algn="just">
              <a:buNone/>
            </a:pPr>
            <a:r>
              <a:rPr lang="en-US" sz="8000" b="1" dirty="0" smtClean="0">
                <a:ln w="10160">
                  <a:solidFill>
                    <a:schemeClr val="bg1"/>
                  </a:solidFill>
                  <a:prstDash val="solid"/>
                </a:ln>
                <a:solidFill>
                  <a:srgbClr val="FFFFFF"/>
                </a:solidFill>
                <a:effectLst>
                  <a:glow rad="101600">
                    <a:srgbClr val="000000">
                      <a:alpha val="60000"/>
                    </a:srgbClr>
                  </a:glow>
                  <a:outerShdw blurRad="38100" dist="22860" dir="5400000" algn="tl" rotWithShape="0">
                    <a:srgbClr val="000000">
                      <a:alpha val="30000"/>
                    </a:srgbClr>
                  </a:outerShdw>
                </a:effectLst>
              </a:rPr>
              <a:t>	</a:t>
            </a:r>
            <a:r>
              <a:rPr lang="am-ET" sz="8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ኣንቲ ውእቱ መሶበ ወርቅ ንጹሕ እንተ ውስቴታ መና ኅቡእ። ሕብስተ ዘወረደ እምሰማያት ወሃቤ ሕይወት ለኩሉ ዓለም።</a:t>
            </a:r>
            <a:endParaRPr lang="en-US" sz="85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312300931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lgn="just">
              <a:spcBef>
                <a:spcPts val="0"/>
              </a:spcBef>
              <a:buNone/>
            </a:pP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ኣሓዱ ኣብ ቅዱስ. . . . . . .</a:t>
            </a:r>
          </a:p>
          <a:p>
            <a:pPr algn="just">
              <a:spcBef>
                <a:spcPts val="0"/>
              </a:spcBef>
            </a:pPr>
            <a:r>
              <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a:t>
            </a:r>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ማን </a:t>
            </a:r>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ብ ቅዱስ፣ በ</a:t>
            </a:r>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ማን ወልድ ቅዱስ</a:t>
            </a:r>
            <a:r>
              <a:rPr lang="en-GB"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በ</a:t>
            </a:r>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ማን ውእቱ መንፈስ ቅዱስ።</a:t>
            </a:r>
          </a:p>
          <a:p>
            <a:pPr marL="0" indent="0" algn="just">
              <a:spcBef>
                <a:spcPts val="0"/>
              </a:spcBef>
              <a:buNone/>
            </a:pP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ሰብሕዎ ለእግዚኣብሔር</a:t>
            </a:r>
            <a:r>
              <a:rPr lang="am-ET"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 .</a:t>
            </a:r>
          </a:p>
          <a:p>
            <a:pPr algn="just">
              <a:spcBef>
                <a:spcPts val="0"/>
              </a:spcBef>
            </a:pPr>
            <a:r>
              <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ወይሰብሕዎ ኩሎሙ ሕዝብ።</a:t>
            </a:r>
          </a:p>
          <a:p>
            <a:pPr marL="0" indent="0" algn="just">
              <a:spcBef>
                <a:spcPts val="0"/>
              </a:spcBef>
              <a:buNone/>
            </a:pP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እስመ ጸናዐት ምሕረቱ . . </a:t>
            </a:r>
            <a:r>
              <a:rPr lang="am-ET"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a:t>
            </a:r>
          </a:p>
          <a:p>
            <a:pPr algn="just">
              <a:spcBef>
                <a:spcPts val="0"/>
              </a:spcBef>
            </a:pPr>
            <a:r>
              <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ወጽድቁሰ ለእግዚኣብሔር ይሄሉ </a:t>
            </a:r>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ዓለም።</a:t>
            </a:r>
            <a:endPar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spcBef>
                <a:spcPts val="0"/>
              </a:spcBef>
              <a:buNone/>
            </a:pP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ስብሓት ለኣብ ወወልድ</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a:t>
            </a:r>
            <a:endPar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pPr algn="just">
              <a:spcBef>
                <a:spcPts val="0"/>
              </a:spcBef>
            </a:pPr>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ስብሓት ለኣብ ወወልድ ወመንፈስ ቅዱስ</a:t>
            </a:r>
            <a:endPar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spcBef>
                <a:spcPts val="0"/>
              </a:spcBef>
              <a:buNone/>
            </a:pPr>
            <a:r>
              <a:rPr lang="en-US"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ይእዜኒ ወዘልፈኒ</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a:t>
            </a: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ሃሌ-ሉያ</a:t>
            </a:r>
            <a:endParaRPr lang="am-ET" sz="4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pPr algn="just">
              <a:spcBef>
                <a:spcPts val="0"/>
              </a:spcBef>
            </a:pPr>
            <a:r>
              <a:rPr lang="en-US" sz="4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ይእዜኒ ወዘልፈኒ ወለዓለም ዓለም ኣሜን፡ ሃሌ</a:t>
            </a:r>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ሉያ።  </a:t>
            </a:r>
          </a:p>
          <a:p>
            <a:pPr marL="0" indent="0">
              <a:buNone/>
            </a:pPr>
            <a:r>
              <a:rPr lang="am-ET" sz="4400" b="1" dirty="0" smtClean="0">
                <a:solidFill>
                  <a:srgbClr val="FFFF00"/>
                </a:solidFill>
              </a:rPr>
              <a:t> </a:t>
            </a:r>
            <a:endParaRPr lang="en-US" sz="4400" b="1" dirty="0">
              <a:solidFill>
                <a:srgbClr val="FFFF00"/>
              </a:solidFill>
            </a:endParaRPr>
          </a:p>
        </p:txBody>
      </p:sp>
    </p:spTree>
    <p:extLst>
      <p:ext uri="{BB962C8B-B14F-4D97-AF65-F5344CB8AC3E}">
        <p14:creationId xmlns:p14="http://schemas.microsoft.com/office/powerpoint/2010/main" val="265433476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0"/>
            <a:ext cx="11456894" cy="6858000"/>
          </a:xfrm>
        </p:spPr>
        <p:txBody>
          <a:bodyPr>
            <a:normAutofit lnSpcReduction="10000"/>
          </a:bodyPr>
          <a:lstStyle/>
          <a:p>
            <a:pPr marL="0" indent="0">
              <a:buNone/>
            </a:pPr>
            <a:endParaRPr lang="en-US" sz="1400" dirty="0" smtClean="0">
              <a:solidFill>
                <a:srgbClr val="FF0000"/>
              </a:solidFill>
            </a:endParaRPr>
          </a:p>
          <a:p>
            <a:pPr marL="0" indent="0">
              <a:buNone/>
            </a:pPr>
            <a:r>
              <a:rPr lang="en-US" sz="3600" dirty="0" smtClean="0">
                <a:solidFill>
                  <a:srgbClr val="FF0000"/>
                </a:solidFill>
              </a:rPr>
              <a:t>   </a:t>
            </a:r>
            <a:r>
              <a:rPr lang="am-ET"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ተን</a:t>
            </a:r>
            <a:r>
              <a:rPr lang="en-US"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ሥ</a:t>
            </a:r>
            <a:r>
              <a:rPr lang="am-ET"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ኡ </a:t>
            </a:r>
            <a:r>
              <a:rPr lang="am-ET"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ለጸሎት . . . . . </a:t>
            </a:r>
          </a:p>
          <a:p>
            <a:r>
              <a:rPr lang="en-US" sz="4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እግዚኦ ተ</a:t>
            </a:r>
            <a:r>
              <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ሣሀ</a:t>
            </a:r>
            <a:r>
              <a:rPr lang="am-ET"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ለነ</a:t>
            </a:r>
            <a:endParaRPr lang="am-ET" sz="4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buNone/>
            </a:pPr>
            <a:r>
              <a:rPr lang="en-US" sz="36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36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ሰላም ለ</a:t>
            </a:r>
            <a:r>
              <a:rPr lang="en-US" sz="36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ኲ</a:t>
            </a:r>
            <a:r>
              <a:rPr lang="am-ET" sz="36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ልክሙ </a:t>
            </a:r>
          </a:p>
          <a:p>
            <a:r>
              <a:rPr lang="en-US" sz="4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ምስለ መንፈስከ</a:t>
            </a:r>
            <a:endPar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buNone/>
            </a:pPr>
            <a:r>
              <a:rPr lang="en-US" sz="3600" dirty="0">
                <a:solidFill>
                  <a:srgbClr val="FF0000"/>
                </a:solidFill>
              </a:rPr>
              <a:t> </a:t>
            </a:r>
            <a:r>
              <a:rPr lang="en-US" sz="3600" dirty="0" smtClean="0">
                <a:solidFill>
                  <a:srgbClr val="FF0000"/>
                </a:solidFill>
              </a:rPr>
              <a:t>  </a:t>
            </a:r>
            <a:r>
              <a:rPr lang="am-ET"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ጸልዩ፣ </a:t>
            </a:r>
            <a:r>
              <a:rPr 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ኅ</a:t>
            </a:r>
            <a:r>
              <a:rPr lang="am-ET"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ሡ ወኣስተብቁ</a:t>
            </a:r>
            <a:r>
              <a:rPr 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ዑ</a:t>
            </a:r>
            <a:r>
              <a:rPr lang="am-ET"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ከመ ይም</a:t>
            </a:r>
            <a:r>
              <a:rPr 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ሐ</a:t>
            </a:r>
            <a:r>
              <a:rPr lang="am-ET"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ረነ እግዚኣብሔር ወይ</a:t>
            </a:r>
            <a:r>
              <a:rPr lang="en-US"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ሣሀ</a:t>
            </a:r>
            <a:r>
              <a:rPr lang="am-ET"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ል</a:t>
            </a:r>
            <a:r>
              <a:rPr lang="am-ET"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 . . . .</a:t>
            </a:r>
            <a:r>
              <a:rPr lang="am-ET" sz="4000" dirty="0" smtClean="0">
                <a:solidFill>
                  <a:srgbClr val="FF0000"/>
                </a:solidFill>
              </a:rPr>
              <a:t> </a:t>
            </a:r>
          </a:p>
          <a:p>
            <a:r>
              <a:rPr lang="en-US" sz="4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ኪርያላይሶን</a:t>
            </a:r>
            <a:r>
              <a:rPr lang="en-US" sz="4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p>
          <a:p>
            <a:pPr marL="0" indent="0">
              <a:buNone/>
            </a:pPr>
            <a:r>
              <a:rPr lang="en-US" sz="3600" dirty="0" smtClean="0">
                <a:solidFill>
                  <a:srgbClr val="FF0000"/>
                </a:solidFill>
              </a:rPr>
              <a:t>   </a:t>
            </a:r>
            <a:r>
              <a:rPr lang="am-ET"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ተን</a:t>
            </a:r>
            <a:r>
              <a:rPr lang="en-GB"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ሥ</a:t>
            </a:r>
            <a:r>
              <a:rPr lang="am-ET"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ኡ ለጸሎት</a:t>
            </a:r>
            <a:endParaRPr lang="am-ET" sz="3600" dirty="0" smtClean="0">
              <a:solidFill>
                <a:srgbClr val="FF0000"/>
              </a:solidFill>
            </a:endParaRPr>
          </a:p>
          <a:p>
            <a:r>
              <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እግዚኦ ተ</a:t>
            </a:r>
            <a:r>
              <a:rPr lang="en-GB"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ሣሀ</a:t>
            </a:r>
            <a:r>
              <a:rPr lang="am-ET"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ለነ</a:t>
            </a:r>
          </a:p>
          <a:p>
            <a:pPr marL="0" indent="0">
              <a:buNone/>
            </a:pPr>
            <a:r>
              <a:rPr lang="en-US" sz="36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36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ሰላም ለ</a:t>
            </a:r>
            <a:r>
              <a:rPr lang="en-US" sz="36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ኲ</a:t>
            </a:r>
            <a:r>
              <a:rPr lang="am-ET" sz="36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ልክሙ </a:t>
            </a:r>
          </a:p>
          <a:p>
            <a:r>
              <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ምስለ መንፈስከ</a:t>
            </a:r>
            <a:endPar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buNone/>
            </a:pPr>
            <a:endParaRPr lang="am-ET" sz="4000" dirty="0" smtClean="0"/>
          </a:p>
          <a:p>
            <a:pPr marL="0" indent="0">
              <a:buNone/>
            </a:pPr>
            <a:endParaRPr lang="am-ET" sz="4000" dirty="0" smtClean="0"/>
          </a:p>
        </p:txBody>
      </p:sp>
    </p:spTree>
    <p:extLst>
      <p:ext uri="{BB962C8B-B14F-4D97-AF65-F5344CB8AC3E}">
        <p14:creationId xmlns:p14="http://schemas.microsoft.com/office/powerpoint/2010/main" val="424417310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38669"/>
            <a:ext cx="12192000" cy="6231467"/>
          </a:xfrm>
        </p:spPr>
        <p:txBody>
          <a:bodyPr>
            <a:normAutofit lnSpcReduction="10000"/>
          </a:bodyPr>
          <a:lstStyle/>
          <a:p>
            <a:pPr marL="0" indent="0" algn="just">
              <a:buNone/>
            </a:pPr>
            <a:r>
              <a:rPr lang="en-US" sz="3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6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ጸልዩ በእንተ</a:t>
            </a:r>
            <a:r>
              <a:rPr lang="en-US" sz="6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እ</a:t>
            </a:r>
            <a:r>
              <a:rPr lang="am-ET" sz="6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ለ</a:t>
            </a:r>
            <a:r>
              <a:rPr lang="en-US" sz="6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6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ያበውኡ መባ</a:t>
            </a:r>
            <a:r>
              <a:rPr lang="en-US" sz="6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አ</a:t>
            </a:r>
            <a:endParaRPr lang="am-ET" sz="6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just"/>
            <a:r>
              <a:rPr lang="en-GB"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 </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ተወከፍ </a:t>
            </a:r>
            <a:r>
              <a:rPr lang="am-ET"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መባኦሙ </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ለኣ</a:t>
            </a: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ኃ</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ው</a:t>
            </a: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 </a:t>
            </a:r>
            <a:r>
              <a:rPr lang="am-ET"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ወተወከፍ መባኦን </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ለኣ</a:t>
            </a: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ኃ</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ት</a:t>
            </a:r>
            <a:r>
              <a:rPr lang="am-ET"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a:t>
            </a:r>
            <a:r>
              <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 ለነኒ</a:t>
            </a:r>
            <a:r>
              <a:rPr lang="am-ET"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 </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ተወከፍ መባ</a:t>
            </a: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አ</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ነ ወ</a:t>
            </a: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ቊ</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rPr>
              <a:t>ርባነነ።</a:t>
            </a:r>
            <a:endParaRPr lang="en-US"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Nyala" panose="02000504070300020003" pitchFamily="2" charset="0"/>
            </a:endParaRPr>
          </a:p>
          <a:p>
            <a:pPr marL="0" indent="0" algn="just">
              <a:buNone/>
            </a:pPr>
            <a:r>
              <a:rPr lang="en-US" sz="4400" dirty="0" smtClean="0">
                <a:solidFill>
                  <a:srgbClr val="FF0000"/>
                </a:solidFill>
              </a:rPr>
              <a:t> </a:t>
            </a:r>
            <a:r>
              <a:rPr lang="en-US" sz="6000" dirty="0" smtClean="0">
                <a:solidFill>
                  <a:srgbClr val="FF0000"/>
                </a:solidFill>
              </a:rPr>
              <a:t> </a:t>
            </a:r>
            <a:r>
              <a:rPr lang="en-US" sz="6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ትእዛዝ ኣበዊነ ሓዋርያት ኢያንብር . . . . .</a:t>
            </a:r>
            <a:endParaRPr lang="am-ET" sz="6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Nyala" panose="02000504070300020003" pitchFamily="2" charset="0"/>
            </a:endParaRPr>
          </a:p>
          <a:p>
            <a:pPr marL="0" indent="0" algn="just">
              <a:buNone/>
            </a:pPr>
            <a:r>
              <a:rPr lang="en-US" sz="6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6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ስግዱ ለእግዚኣብሔር በፍር</a:t>
            </a:r>
            <a:r>
              <a:rPr lang="en-US" sz="6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ሐ</a:t>
            </a:r>
            <a:r>
              <a:rPr lang="am-ET" sz="6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ት</a:t>
            </a:r>
          </a:p>
          <a:p>
            <a:pPr algn="just"/>
            <a:r>
              <a:rPr lang="en-US"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7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ቅድሜከ እግዚኦ ንሰግድ ወንሴብሓከ</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endParaRPr lang="am-ET"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264781173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917" y="107576"/>
            <a:ext cx="11927541" cy="6750424"/>
          </a:xfrm>
        </p:spPr>
        <p:txBody>
          <a:bodyPr>
            <a:normAutofit lnSpcReduction="10000"/>
          </a:bodyPr>
          <a:lstStyle/>
          <a:p>
            <a:pPr marL="0" indent="0" algn="just">
              <a:buNone/>
            </a:pPr>
            <a:r>
              <a:rPr lang="en-GB"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ልመናታት. . . . . .</a:t>
            </a:r>
          </a:p>
          <a:p>
            <a:pPr marL="0" indent="0" algn="just">
              <a:buNone/>
            </a:pP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እግዚ</a:t>
            </a:r>
            <a:r>
              <a:rPr lang="en-US" sz="4400" b="1" u="sng" baseline="3000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ር</a:t>
            </a: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ብምሕረቱን. . . . . . .</a:t>
            </a:r>
          </a:p>
          <a:p>
            <a:pPr algn="just"/>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ኣሜን ኦ ጎይታና መሓረና. . . . . </a:t>
            </a:r>
            <a:endParaRPr lang="en-US" sz="4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ንኹላትና ብጸሎት እንልምንን . . . . . . .</a:t>
            </a:r>
          </a:p>
          <a:p>
            <a:pPr algn="just"/>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እምበኣርከስ ብመንፈስ ቅዱስ ንተንሥእ: ጥበበይናታት ኮይንና ኣብ ጸጋኡ ክንዓብን ብስሙ ክንምካሕን: ኣብ ናይ ነብያትን ሃዋርያትን መሠረት ክንህነጽን: ጸሎትና ሰሚዑ ክቕበለና ንእግዚ</a:t>
            </a:r>
            <a:r>
              <a:rPr lang="en-US" sz="6200" b="1" u="sng" baseline="3000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ር</a:t>
            </a:r>
            <a:r>
              <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ኣምላኽና ቀሪብና ንለምኖ።</a:t>
            </a:r>
            <a:endParaRPr lang="en-US" sz="6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endParaRPr lang="am-ET" sz="4800" dirty="0" smtClean="0"/>
          </a:p>
          <a:p>
            <a:pPr marL="0" indent="0" algn="just">
              <a:buNone/>
            </a:pPr>
            <a:endParaRPr lang="en-US" sz="4800" dirty="0"/>
          </a:p>
        </p:txBody>
      </p:sp>
    </p:spTree>
    <p:extLst>
      <p:ext uri="{BB962C8B-B14F-4D97-AF65-F5344CB8AC3E}">
        <p14:creationId xmlns:p14="http://schemas.microsoft.com/office/powerpoint/2010/main" val="76089056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8046"/>
            <a:ext cx="12192000" cy="6581422"/>
          </a:xfrm>
        </p:spPr>
        <p:txBody>
          <a:bodyPr>
            <a:normAutofit fontScale="92500" lnSpcReduction="10000"/>
          </a:bodyPr>
          <a:lstStyle/>
          <a:p>
            <a:pPr marL="0" indent="0" algn="just">
              <a:buNone/>
            </a:pP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ተን</a:t>
            </a: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ሥ</a:t>
            </a:r>
            <a:r>
              <a:rPr lang="am-ET"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ኡ ለጸሎት . . . . . </a:t>
            </a:r>
            <a:endParaRPr lang="en-US" sz="4400" dirty="0" smtClean="0">
              <a:solidFill>
                <a:srgbClr val="FF0000"/>
              </a:solidFill>
            </a:endParaRPr>
          </a:p>
          <a:p>
            <a:pPr algn="just"/>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እግዚኦ ተሣሀለነ</a:t>
            </a:r>
          </a:p>
          <a:p>
            <a:pPr marL="0" indent="0" algn="just">
              <a:buNone/>
            </a:pPr>
            <a:r>
              <a:rPr lang="en-US"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ሰላም ለኲልክሙ</a:t>
            </a:r>
          </a:p>
          <a:p>
            <a:pPr algn="just"/>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ምስለ መንፈስከ</a:t>
            </a:r>
            <a:endPar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r>
              <a:rPr lang="en-US" sz="4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ንስግድ</a:t>
            </a:r>
            <a:r>
              <a:rPr lang="en-US"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3600" b="1"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a:t>
            </a:r>
            <a:r>
              <a:rPr lang="en-US" sz="3600" b="1"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latin typeface="Ethiopic Tint" pitchFamily="2" charset="0"/>
              </a:rPr>
              <a:t>፫</a:t>
            </a:r>
            <a:r>
              <a:rPr lang="en-US" sz="3200" b="1" spc="50" baseline="3000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ተ</a:t>
            </a:r>
            <a:r>
              <a:rPr lang="en-US" sz="3600" b="1"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 ግዜ/</a:t>
            </a:r>
            <a:endParaRPr lang="am-ET" sz="4000" b="1"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endParaRPr>
          </a:p>
          <a:p>
            <a:pPr algn="just"/>
            <a:r>
              <a:rPr lang="en-GB" sz="2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ለኣብ</a:t>
            </a:r>
            <a:r>
              <a:rPr lang="am-ET"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ወወልድ</a:t>
            </a:r>
            <a:r>
              <a:rPr lang="am-ET" sz="4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ወመንፈስ</a:t>
            </a:r>
            <a:r>
              <a:rPr lang="am-ET" sz="4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ቅዱስ</a:t>
            </a:r>
            <a:r>
              <a:rPr lang="am-ET" sz="4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እንዘ</a:t>
            </a:r>
            <a:r>
              <a:rPr lang="am-ET" sz="4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ሰለስቱ</a:t>
            </a:r>
            <a:r>
              <a:rPr lang="am-ET" sz="4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ኣሓዱ</a:t>
            </a:r>
            <a:r>
              <a:rPr lang="en-US" sz="4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44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a:t>
            </a:r>
            <a:r>
              <a:rPr lang="en-US" sz="4400" b="1"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latin typeface="Ethiopic Tint" pitchFamily="2" charset="0"/>
              </a:rPr>
              <a:t>፫</a:t>
            </a:r>
            <a:r>
              <a:rPr lang="en-US" sz="4400" b="1" spc="50" baseline="3000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ተ</a:t>
            </a:r>
            <a:r>
              <a:rPr lang="en-US" sz="4400" b="1"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 ግዜ/</a:t>
            </a:r>
            <a:endParaRPr lang="am-ET" sz="4800" b="1"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endParaRPr>
          </a:p>
          <a:p>
            <a:pPr marL="0" indent="0" algn="just">
              <a:buNone/>
            </a:pPr>
            <a:r>
              <a:rPr lang="en-US" sz="4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ሰላም </a:t>
            </a:r>
            <a:r>
              <a:rPr lang="am-ET" sz="4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ለኪ</a:t>
            </a:r>
          </a:p>
          <a:p>
            <a:pPr algn="just"/>
            <a:r>
              <a:rPr lang="en-GB"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ቅድስት </a:t>
            </a:r>
            <a:r>
              <a:rPr lang="am-ET"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ቤተ ክርስትያን ማ</a:t>
            </a:r>
            <a:r>
              <a:rPr lang="en-US"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ኅ</a:t>
            </a:r>
            <a:r>
              <a:rPr lang="am-ET"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ደረ መለኮት</a:t>
            </a:r>
          </a:p>
          <a:p>
            <a:pPr marL="0" indent="0" algn="just">
              <a:buNone/>
            </a:pPr>
            <a:r>
              <a:rPr lang="en-US" sz="4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ሰኣሊ </a:t>
            </a:r>
            <a:r>
              <a:rPr lang="am-ET" sz="4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ለነ</a:t>
            </a:r>
          </a:p>
          <a:p>
            <a:pPr algn="just"/>
            <a:r>
              <a:rPr lang="en-GB"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ድንግል </a:t>
            </a:r>
            <a:r>
              <a:rPr lang="am-ET"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ማርያም ወላዲተ ኣምላክ</a:t>
            </a:r>
            <a:endParaRPr lang="am-ET" sz="5200" dirty="0" smtClean="0"/>
          </a:p>
          <a:p>
            <a:pPr marL="0" indent="0" algn="just">
              <a:buNone/>
            </a:pPr>
            <a:endParaRPr lang="en-US" sz="4800" dirty="0"/>
          </a:p>
        </p:txBody>
      </p:sp>
    </p:spTree>
    <p:extLst>
      <p:ext uri="{BB962C8B-B14F-4D97-AF65-F5344CB8AC3E}">
        <p14:creationId xmlns:p14="http://schemas.microsoft.com/office/powerpoint/2010/main" val="286225777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2400"/>
            <a:ext cx="12128500" cy="6819900"/>
          </a:xfrm>
        </p:spPr>
        <p:txBody>
          <a:bodyPr>
            <a:normAutofit/>
          </a:bodyPr>
          <a:lstStyle/>
          <a:p>
            <a:pPr marL="0" indent="0" algn="just">
              <a:buNone/>
            </a:pPr>
            <a:r>
              <a:rPr lang="en-US" sz="43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ኣንቲ ውእቱ</a:t>
            </a:r>
            <a:endParaRPr lang="am-ET" sz="43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pPr marL="338138" indent="-338138" algn="just"/>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ማዕጠንት ዘወርቅ እንተጾርኪ ፍሕመ እሳት፡ </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ቡ</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ሩክ ዘነ</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ሥአ</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እመቅደስ ዘይሰሪ </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ኃ</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ጢ</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ተ ወይደመስስ ጌጋየ፡ ዘውእቱ ዘእግዚኣብሔር ቃል ዘተሰብ</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እምኔኪ፡ ዘ</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ዕረገ ለ</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ቡሁ ርእሶ ዕጣ</a:t>
            </a:r>
            <a:r>
              <a:rPr lang="en-US" sz="61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ነ</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ወመ</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ዋዕተ </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ሙረ ን</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ሰ</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ግድ ለከ ክርስቶስ ምስለ ኣቡከ </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ኄ</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ር ሰማያዊ ወመንፈስከ ቅዱስ ማሕየዊ፡ እስመ መጻእከ ወኣድ</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ኃ</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ንከነ።</a:t>
            </a:r>
          </a:p>
        </p:txBody>
      </p:sp>
    </p:spTree>
    <p:extLst>
      <p:ext uri="{BB962C8B-B14F-4D97-AF65-F5344CB8AC3E}">
        <p14:creationId xmlns:p14="http://schemas.microsoft.com/office/powerpoint/2010/main" val="384752602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4617" y="818776"/>
            <a:ext cx="11104283" cy="5353424"/>
          </a:xfrm>
        </p:spPr>
        <p:txBody>
          <a:bodyPr>
            <a:normAutofit/>
          </a:bodyPr>
          <a:lstStyle/>
          <a:p>
            <a:pPr marL="0" indent="0" algn="just">
              <a:buNone/>
            </a:pP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4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ተን</a:t>
            </a:r>
            <a:r>
              <a:rPr lang="en-US" sz="4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ሥ</a:t>
            </a:r>
            <a:r>
              <a:rPr lang="am-ET" sz="4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ኡ ለጸሎት . . . . . </a:t>
            </a:r>
            <a:endParaRPr lang="en-US" sz="4800" dirty="0" smtClean="0">
              <a:solidFill>
                <a:srgbClr val="FF0000"/>
              </a:solidFill>
            </a:endParaRPr>
          </a:p>
          <a:p>
            <a:pPr algn="just"/>
            <a:r>
              <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እግዚኦ ተሣሀለነ</a:t>
            </a:r>
          </a:p>
          <a:p>
            <a:pPr marL="0" indent="0" algn="just">
              <a:buNone/>
            </a:pPr>
            <a:r>
              <a:rPr lang="en-US"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ሰላም ለኲልክሙ</a:t>
            </a:r>
          </a:p>
          <a:p>
            <a:pPr algn="just"/>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ምስለ መንፈስከ</a:t>
            </a:r>
            <a:endParaRPr lang="am-ET"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4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ኲሉ ዘኢያፈቅሮ ለእግዚእነ ወመድኃኒነ ኢየሱስ</a:t>
            </a:r>
            <a:r>
              <a:rPr lang="am-ET" sz="4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4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 . . . </a:t>
            </a:r>
            <a:endParaRPr lang="am-ET" sz="4800" dirty="0" smtClean="0"/>
          </a:p>
          <a:p>
            <a:pPr marL="0" indent="0" algn="just">
              <a:buNone/>
            </a:pPr>
            <a:endParaRPr lang="en-US" sz="4800" dirty="0"/>
          </a:p>
        </p:txBody>
      </p:sp>
    </p:spTree>
    <p:extLst>
      <p:ext uri="{BB962C8B-B14F-4D97-AF65-F5344CB8AC3E}">
        <p14:creationId xmlns:p14="http://schemas.microsoft.com/office/powerpoint/2010/main" val="349632330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Subtitle 2"/>
          <p:cNvSpPr>
            <a:spLocks noGrp="1"/>
          </p:cNvSpPr>
          <p:nvPr>
            <p:ph type="subTitle" idx="1"/>
          </p:nvPr>
        </p:nvSpPr>
        <p:spPr>
          <a:xfrm>
            <a:off x="1560748" y="3514034"/>
            <a:ext cx="9529611" cy="1998490"/>
          </a:xfrm>
          <a:noFill/>
        </p:spPr>
        <p:txBody>
          <a:bodyPr>
            <a:noAutofit/>
          </a:bodyPr>
          <a:lstStyle/>
          <a:p>
            <a:pPr eaLnBrk="1" hangingPunct="1"/>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ዕብ. </a:t>
            </a:r>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3፡ 1 </a:t>
            </a:r>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 </a:t>
            </a:r>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ፍጻሜ</a:t>
            </a:r>
            <a:endParaRPr lang="en-US" sz="10500" b="1"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
        <p:nvSpPr>
          <p:cNvPr id="5" name="Title 1"/>
          <p:cNvSpPr txBox="1">
            <a:spLocks/>
          </p:cNvSpPr>
          <p:nvPr/>
        </p:nvSpPr>
        <p:spPr>
          <a:xfrm>
            <a:off x="1545770" y="1274763"/>
            <a:ext cx="9144000" cy="23876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3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rPr>
              <a:t>1</a:t>
            </a:r>
            <a:r>
              <a:rPr lang="en-US" sz="8800" b="1" baseline="7500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rPr>
              <a:t>ይ</a:t>
            </a:r>
            <a:r>
              <a:rPr lang="en-US" sz="20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rPr>
              <a:t> </a:t>
            </a:r>
            <a:r>
              <a:rPr lang="en-US" sz="13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rPr>
              <a:t>ንባብ</a:t>
            </a:r>
            <a:endParaRPr lang="en-US" sz="13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endParaRPr>
          </a:p>
        </p:txBody>
      </p:sp>
    </p:spTree>
    <p:extLst>
      <p:ext uri="{BB962C8B-B14F-4D97-AF65-F5344CB8AC3E}">
        <p14:creationId xmlns:p14="http://schemas.microsoft.com/office/powerpoint/2010/main" val="315290233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Content Placeholder 2"/>
          <p:cNvSpPr>
            <a:spLocks noGrp="1"/>
          </p:cNvSpPr>
          <p:nvPr>
            <p:ph idx="1"/>
          </p:nvPr>
        </p:nvSpPr>
        <p:spPr>
          <a:xfrm>
            <a:off x="291919" y="544125"/>
            <a:ext cx="11612880" cy="5743786"/>
          </a:xfrm>
        </p:spPr>
        <p:txBody>
          <a:bodyPr>
            <a:normAutofit/>
          </a:bodyPr>
          <a:lstStyle/>
          <a:p>
            <a:pPr marL="0" indent="0" algn="just">
              <a:buNone/>
            </a:pPr>
            <a:r>
              <a:rPr lang="en-US" sz="7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7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ቅዱስ </a:t>
            </a:r>
            <a:r>
              <a:rPr lang="en-US" sz="77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ሓዋርያ ጳውሎስ </a:t>
            </a:r>
            <a:r>
              <a:rPr lang="en-US" sz="7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ሠናየ </a:t>
            </a:r>
            <a:r>
              <a:rPr lang="en-US" sz="77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መልእክት ፈዋሴ ድዉያን፡ </a:t>
            </a:r>
            <a:r>
              <a:rPr lang="en-US" sz="7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ዘነሣእከ </a:t>
            </a:r>
            <a:r>
              <a:rPr lang="en-US" sz="77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ኣክሊለ፡ </a:t>
            </a:r>
            <a:r>
              <a:rPr lang="en-US" sz="7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ሰአል </a:t>
            </a:r>
            <a:r>
              <a:rPr lang="en-US" sz="77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ወጸሊ </a:t>
            </a:r>
            <a:r>
              <a:rPr lang="en-US" sz="7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በእንቲአነ</a:t>
            </a:r>
            <a:r>
              <a:rPr lang="en-US" sz="77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7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ያድኅን </a:t>
            </a:r>
            <a:r>
              <a:rPr lang="en-US" sz="77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ነፍሳቲነ </a:t>
            </a:r>
            <a:r>
              <a:rPr lang="en-US" sz="7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በብዝኀ ሣህሉ ምሕረቱ</a:t>
            </a:r>
            <a:r>
              <a:rPr lang="en-US" sz="77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በእንተ ስሙ ቅዱስ።</a:t>
            </a:r>
          </a:p>
        </p:txBody>
      </p:sp>
    </p:spTree>
    <p:extLst>
      <p:ext uri="{BB962C8B-B14F-4D97-AF65-F5344CB8AC3E}">
        <p14:creationId xmlns:p14="http://schemas.microsoft.com/office/powerpoint/2010/main" val="207930521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itle 1"/>
          <p:cNvSpPr>
            <a:spLocks noGrp="1"/>
          </p:cNvSpPr>
          <p:nvPr>
            <p:ph type="ctrTitle"/>
          </p:nvPr>
        </p:nvSpPr>
        <p:spPr>
          <a:xfrm>
            <a:off x="1484811" y="1239930"/>
            <a:ext cx="9144000" cy="2387600"/>
          </a:xfrm>
        </p:spPr>
        <p:txBody>
          <a:bodyPr>
            <a:noAutofit/>
          </a:bodyPr>
          <a:lstStyle/>
          <a:p>
            <a:pPr eaLnBrk="1" hangingPunct="1"/>
            <a:r>
              <a:rPr lang="en-US" sz="13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rPr>
              <a:t>2</a:t>
            </a:r>
            <a:r>
              <a:rPr lang="en-US" sz="8800" b="1" baseline="7500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rPr>
              <a:t>ይ</a:t>
            </a:r>
            <a:r>
              <a:rPr lang="en-US" sz="20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rPr>
              <a:t> </a:t>
            </a:r>
            <a:r>
              <a:rPr lang="en-US" sz="13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rPr>
              <a:t>ንባብ</a:t>
            </a:r>
          </a:p>
        </p:txBody>
      </p:sp>
      <p:sp>
        <p:nvSpPr>
          <p:cNvPr id="3076" name="Subtitle 2"/>
          <p:cNvSpPr>
            <a:spLocks noGrp="1"/>
          </p:cNvSpPr>
          <p:nvPr>
            <p:ph type="subTitle" idx="1"/>
          </p:nvPr>
        </p:nvSpPr>
        <p:spPr>
          <a:xfrm>
            <a:off x="1554477" y="3527097"/>
            <a:ext cx="9187538" cy="1776420"/>
          </a:xfrm>
          <a:noFill/>
        </p:spPr>
        <p:txBody>
          <a:bodyPr>
            <a:normAutofit/>
          </a:bodyPr>
          <a:lstStyle/>
          <a:p>
            <a:pPr eaLnBrk="1" hangingPunct="1"/>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ያዕ</a:t>
            </a:r>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 5፡ </a:t>
            </a:r>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1 - </a:t>
            </a:r>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12</a:t>
            </a:r>
            <a:endParaRPr lang="en-US" sz="10500" b="1"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Tree>
    <p:extLst>
      <p:ext uri="{BB962C8B-B14F-4D97-AF65-F5344CB8AC3E}">
        <p14:creationId xmlns:p14="http://schemas.microsoft.com/office/powerpoint/2010/main" val="414207880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203499" y="702833"/>
            <a:ext cx="11777831" cy="5791200"/>
          </a:xfrm>
        </p:spPr>
        <p:txBody>
          <a:bodyPr>
            <a:normAutofit/>
          </a:bodyPr>
          <a:lstStyle/>
          <a:p>
            <a:pPr marL="0" indent="0" algn="just">
              <a:buNone/>
            </a:pPr>
            <a:r>
              <a:rPr lang="en-US" sz="8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ቅዱስ </a:t>
            </a:r>
            <a:r>
              <a:rPr lang="en-US"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a:t>
            </a:r>
            <a:r>
              <a:rPr lang="en-US" sz="8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ሉስ ዘኅቡር </a:t>
            </a:r>
            <a:r>
              <a:rPr lang="en-US"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ህላዌከ ዕቀብ </a:t>
            </a:r>
            <a:r>
              <a:rPr lang="en-US" sz="8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ማኅበረነ</a:t>
            </a:r>
            <a:r>
              <a:rPr lang="en-US"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በእንተ ቅዱሳን </a:t>
            </a:r>
            <a:r>
              <a:rPr lang="en-US" sz="8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ኅሩያን </a:t>
            </a:r>
            <a:r>
              <a:rPr lang="en-US"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ኣርዳኢከ ናዝዘነ </a:t>
            </a:r>
            <a:r>
              <a:rPr lang="en-US" sz="8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በሣህልከ </a:t>
            </a:r>
            <a:r>
              <a:rPr lang="en-US"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በእንተ ቅዱስ ስምከ። </a:t>
            </a:r>
          </a:p>
        </p:txBody>
      </p:sp>
    </p:spTree>
    <p:extLst>
      <p:ext uri="{BB962C8B-B14F-4D97-AF65-F5344CB8AC3E}">
        <p14:creationId xmlns:p14="http://schemas.microsoft.com/office/powerpoint/2010/main" val="409906294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Subtitle 2"/>
          <p:cNvSpPr>
            <a:spLocks noGrp="1"/>
          </p:cNvSpPr>
          <p:nvPr>
            <p:ph type="subTitle" idx="1"/>
          </p:nvPr>
        </p:nvSpPr>
        <p:spPr>
          <a:xfrm>
            <a:off x="1554481" y="3509682"/>
            <a:ext cx="9117870" cy="1545644"/>
          </a:xfrm>
          <a:noFill/>
        </p:spPr>
        <p:txBody>
          <a:bodyPr>
            <a:normAutofit/>
          </a:bodyPr>
          <a:lstStyle/>
          <a:p>
            <a:pPr eaLnBrk="1" hangingPunct="1"/>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ግ.ሓ </a:t>
            </a:r>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22፡ 1 </a:t>
            </a:r>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 </a:t>
            </a:r>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22</a:t>
            </a:r>
            <a:endParaRPr lang="en-US" sz="10500" b="1"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
        <p:nvSpPr>
          <p:cNvPr id="5" name="Title 1"/>
          <p:cNvSpPr>
            <a:spLocks noGrp="1"/>
          </p:cNvSpPr>
          <p:nvPr>
            <p:ph type="ctrTitle"/>
          </p:nvPr>
        </p:nvSpPr>
        <p:spPr>
          <a:xfrm>
            <a:off x="1524000" y="1122363"/>
            <a:ext cx="9144000" cy="2387600"/>
          </a:xfrm>
        </p:spPr>
        <p:txBody>
          <a:bodyPr>
            <a:noAutofit/>
          </a:bodyPr>
          <a:lstStyle/>
          <a:p>
            <a:pPr eaLnBrk="1" hangingPunct="1"/>
            <a:r>
              <a:rPr lang="en-US" sz="13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rPr>
              <a:t>3</a:t>
            </a:r>
            <a:r>
              <a:rPr lang="en-US" sz="8800" b="1" baseline="7500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rPr>
              <a:t>ይ</a:t>
            </a:r>
            <a:r>
              <a:rPr lang="en-US" sz="20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rPr>
              <a:t> </a:t>
            </a:r>
            <a:r>
              <a:rPr lang="en-US" sz="13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rPr>
              <a:t>ንባብ</a:t>
            </a:r>
          </a:p>
        </p:txBody>
      </p:sp>
    </p:spTree>
    <p:extLst>
      <p:ext uri="{BB962C8B-B14F-4D97-AF65-F5344CB8AC3E}">
        <p14:creationId xmlns:p14="http://schemas.microsoft.com/office/powerpoint/2010/main" val="414207880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Content Placeholder 2"/>
          <p:cNvSpPr>
            <a:spLocks noGrp="1"/>
          </p:cNvSpPr>
          <p:nvPr>
            <p:ph idx="1"/>
          </p:nvPr>
        </p:nvSpPr>
        <p:spPr>
          <a:xfrm>
            <a:off x="215153" y="541867"/>
            <a:ext cx="11779623" cy="5557404"/>
          </a:xfrm>
        </p:spPr>
        <p:txBody>
          <a:bodyPr>
            <a:noAutofit/>
          </a:bodyPr>
          <a:lstStyle/>
          <a:p>
            <a:pPr marL="0" indent="0" algn="just">
              <a:buNone/>
            </a:pPr>
            <a:r>
              <a:rPr lang="en-US" sz="79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ቅዱስ </a:t>
            </a:r>
            <a:r>
              <a:rPr lang="en-US" sz="79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ቅዱስ ቅዱስ፡ ኣንተ ኣምላክ ኣብ </a:t>
            </a:r>
            <a:r>
              <a:rPr lang="en-US" sz="79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ኣኃዜ </a:t>
            </a:r>
            <a:r>
              <a:rPr lang="en-US" sz="79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ኩሉ። ቅዱስ ቅዱስ ቅዱስ፡ ኣንተ ወልድ ዋሕድ </a:t>
            </a:r>
            <a:r>
              <a:rPr lang="en-US" sz="79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ዘኣንተ ቃለ አብ </a:t>
            </a:r>
            <a:r>
              <a:rPr lang="en-US" sz="79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ሕያው። ቅዱስ ቅዱስ ቅዱስ፡ </a:t>
            </a:r>
            <a:r>
              <a:rPr lang="en-US" sz="79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አንተ </a:t>
            </a:r>
            <a:r>
              <a:rPr lang="en-US" sz="79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መንፈስ ቅዱስ </a:t>
            </a:r>
            <a:r>
              <a:rPr lang="en-US" sz="79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ዘተአምር </a:t>
            </a:r>
            <a:r>
              <a:rPr lang="en-US" sz="79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ኲሎ።</a:t>
            </a:r>
          </a:p>
        </p:txBody>
      </p:sp>
    </p:spTree>
    <p:extLst>
      <p:ext uri="{BB962C8B-B14F-4D97-AF65-F5344CB8AC3E}">
        <p14:creationId xmlns:p14="http://schemas.microsoft.com/office/powerpoint/2010/main" val="64497326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600" y="25400"/>
            <a:ext cx="12014200" cy="6858000"/>
          </a:xfrm>
        </p:spPr>
        <p:txBody>
          <a:bodyPr>
            <a:noAutofit/>
          </a:bodyPr>
          <a:lstStyle/>
          <a:p>
            <a:pPr marL="0" indent="0" algn="just">
              <a:buNone/>
            </a:pP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ዝውእቱ ግዜ</a:t>
            </a: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ባርኮት</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a:t>
            </a:r>
          </a:p>
          <a:p>
            <a:pPr algn="just"/>
            <a:r>
              <a:rPr lang="en-US"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ዕጣን ይእቲ ማርያም እስመ ዘውስተ ከር</a:t>
            </a:r>
            <a:r>
              <a:rPr lang="en-US" sz="4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ሣ</a:t>
            </a:r>
            <a:r>
              <a:rPr lang="am-ET"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ዘይትሜዐዝ እም</a:t>
            </a:r>
            <a:r>
              <a:rPr lang="en-US"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ኲ</a:t>
            </a:r>
            <a:r>
              <a:rPr lang="am-ET"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ሉ ዕጣን ዘወለደቶ መጽ</a:t>
            </a:r>
            <a:r>
              <a:rPr lang="en-US"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ወኣድ</a:t>
            </a:r>
            <a:r>
              <a:rPr lang="en-US"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ኀ</a:t>
            </a:r>
            <a:r>
              <a:rPr lang="am-ET"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ነነ።</a:t>
            </a:r>
          </a:p>
          <a:p>
            <a:pPr marL="0" indent="0" algn="just">
              <a:buNone/>
            </a:pP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ዕፍ</a:t>
            </a:r>
            <a:r>
              <a:rPr lang="en-US" sz="4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ረ</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ት ምዑዝ </a:t>
            </a: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ኢየሱስ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a:t>
            </a:r>
          </a:p>
          <a:p>
            <a:pPr algn="just"/>
            <a:r>
              <a:rPr lang="en-US"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ተውህቦ ምሕረት ለሚካኤል</a:t>
            </a:r>
            <a:r>
              <a:rPr lang="en-US"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r>
              <a:rPr lang="am-ET"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ወብ</a:t>
            </a:r>
            <a:r>
              <a:rPr lang="en-US"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a:t>
            </a:r>
            <a:r>
              <a:rPr lang="am-ET"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ራት ለገብርኤል</a:t>
            </a:r>
            <a:r>
              <a:rPr lang="en-US"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r>
              <a:rPr lang="am-ET"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ወ</a:t>
            </a:r>
            <a:r>
              <a:rPr lang="en-US"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ሀ</a:t>
            </a:r>
            <a:r>
              <a:rPr lang="am-ET"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ብተ ሰማያት ለማርያም  ድንግል።</a:t>
            </a:r>
          </a:p>
          <a:p>
            <a:pPr marL="0" indent="0" algn="just">
              <a:buNone/>
            </a:pP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ተውህቦ ልቡና</a:t>
            </a: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ለዳዊት</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 </a:t>
            </a:r>
          </a:p>
          <a:p>
            <a:pPr algn="just"/>
            <a:r>
              <a:rPr lang="en-US"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ተውህቦ መራ</a:t>
            </a:r>
            <a:r>
              <a:rPr lang="en-US"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ኁ</a:t>
            </a:r>
            <a:r>
              <a:rPr lang="am-ET"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ት ለኣቡነ ጴጥሮስ ወድንግልና ለ</a:t>
            </a:r>
            <a:r>
              <a:rPr lang="en-US"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ዮሐ</a:t>
            </a:r>
            <a:r>
              <a:rPr lang="am-ET"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ንስ ወመልእክት ለኣቡነ ጳውሎስ እስመ ውእቱ ብርሃና ለቤተ</a:t>
            </a:r>
            <a:r>
              <a:rPr lang="en-US"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ክርስትያን።</a:t>
            </a:r>
            <a:endParaRPr lang="en-US" sz="4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70901762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5100" y="25400"/>
            <a:ext cx="11963400" cy="6858000"/>
          </a:xfrm>
          <a:noFill/>
          <a:ln>
            <a:noFill/>
          </a:ln>
        </p:spPr>
        <p:style>
          <a:lnRef idx="2">
            <a:schemeClr val="dk1"/>
          </a:lnRef>
          <a:fillRef idx="1">
            <a:schemeClr val="lt1"/>
          </a:fillRef>
          <a:effectRef idx="0">
            <a:schemeClr val="dk1"/>
          </a:effectRef>
          <a:fontRef idx="minor">
            <a:schemeClr val="dk1"/>
          </a:fontRef>
        </p:style>
        <p:txBody>
          <a:bodyPr>
            <a:noAutofit/>
          </a:bodyPr>
          <a:lstStyle/>
          <a:p>
            <a:pPr marL="0" indent="0" algn="just">
              <a:buNone/>
            </a:pP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ዕፍ</a:t>
            </a:r>
            <a:r>
              <a:rPr lang="en-US" sz="4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ረ</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ት ምዕዝቲ </a:t>
            </a: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ይእቲ</a:t>
            </a:r>
            <a:r>
              <a:rPr lang="am-ET" sz="43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a:t>
            </a:r>
          </a:p>
          <a:p>
            <a:pPr algn="just"/>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ለማርያም ድንግል ንጽሕት </a:t>
            </a:r>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ሠ</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ምራ </a:t>
            </a:r>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ብ ወ</a:t>
            </a:r>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ሰርገዋ ደብተራ ለማ</a:t>
            </a:r>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ኅ</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ደ</a:t>
            </a:r>
            <a:r>
              <a:rPr lang="en-US" sz="4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ረ</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ፍቁር ወልዱ</a:t>
            </a:r>
          </a:p>
          <a:p>
            <a:pPr marL="0" indent="0" algn="just">
              <a:buNone/>
            </a:pP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ተውህቦ ሕግ ለሙሴ . </a:t>
            </a:r>
            <a:r>
              <a:rPr lang="am-ET" sz="43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a:t>
            </a:r>
          </a:p>
          <a:p>
            <a:pPr algn="just"/>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ደብተራ ስምዕ ገብርዋ</a:t>
            </a:r>
            <a:r>
              <a:rPr lang="en-US" sz="4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በከመ ነገረ እግዚእ ወኣሮን ካህን በማእከላ ያዐርግ ዕጣ</a:t>
            </a:r>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ነ</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ኅ</a:t>
            </a:r>
            <a:r>
              <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ሩየ።</a:t>
            </a:r>
          </a:p>
          <a:p>
            <a:pPr marL="0" indent="0" algn="just">
              <a:buNone/>
            </a:pP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ሱራ</a:t>
            </a: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ፌ</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ል ይሰግድ ሎቱ</a:t>
            </a: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36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a:t>
            </a:r>
          </a:p>
          <a:p>
            <a:pPr algn="just"/>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ቅዱስ ቅዱስ ቅዱስ እግዚኣብሔር በ</a:t>
            </a:r>
            <a:r>
              <a:rPr lang="en-US" sz="4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ኀ</a:t>
            </a:r>
            <a:r>
              <a:rPr lang="am-ET"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 </a:t>
            </a:r>
            <a:r>
              <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እላፍ ወክቡር በውስተ ረበዋት።</a:t>
            </a:r>
            <a:endParaRPr lang="am-ET"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ኣንተ ውእቱ ዕጣን </a:t>
            </a:r>
            <a:r>
              <a:rPr lang="am-ET" sz="36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a:t>
            </a:r>
            <a:endParaRPr lang="en-US" sz="43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p:txBody>
      </p:sp>
    </p:spTree>
    <p:extLst>
      <p:ext uri="{BB962C8B-B14F-4D97-AF65-F5344CB8AC3E}">
        <p14:creationId xmlns:p14="http://schemas.microsoft.com/office/powerpoint/2010/main" val="108476166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Content Placeholder 2"/>
          <p:cNvSpPr>
            <a:spLocks noGrp="1"/>
          </p:cNvSpPr>
          <p:nvPr>
            <p:ph idx="1"/>
          </p:nvPr>
        </p:nvSpPr>
        <p:spPr>
          <a:xfrm>
            <a:off x="215153" y="668565"/>
            <a:ext cx="11779623" cy="5430706"/>
          </a:xfrm>
        </p:spPr>
        <p:txBody>
          <a:bodyPr>
            <a:noAutofit/>
          </a:bodyPr>
          <a:lstStyle/>
          <a:p>
            <a:pPr marL="0" indent="0" algn="just">
              <a:buNone/>
            </a:pPr>
            <a:r>
              <a:rPr lang="en-US" sz="7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7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11500" b="1" dirty="0" smtClean="0">
                <a:ln w="17780" cmpd="sng">
                  <a:solidFill>
                    <a:srgbClr val="FFFFFF"/>
                  </a:solidFill>
                  <a:prstDash val="solid"/>
                  <a:miter lim="800000"/>
                </a:ln>
                <a:blipFill dpi="0" rotWithShape="1">
                  <a:blip r:embed="rId2"/>
                  <a:srcRect/>
                  <a:stretch>
                    <a:fillRect/>
                  </a:stretch>
                </a:blipFill>
                <a:effectLst>
                  <a:outerShdw blurRad="50800" dist="38100" dir="16200000" rotWithShape="0">
                    <a:prstClr val="black">
                      <a:alpha val="40000"/>
                    </a:prstClr>
                  </a:outerShdw>
                </a:effectLst>
                <a:latin typeface="Geez WashRa Bold" pitchFamily="2" charset="0"/>
              </a:rPr>
              <a:t>ክ</a:t>
            </a:r>
            <a:r>
              <a:rPr lang="en-US" sz="8600" b="1" dirty="0" smtClean="0">
                <a:ln w="17780" cmpd="sng">
                  <a:solidFill>
                    <a:srgbClr val="FFFFFF"/>
                  </a:solidFill>
                  <a:prstDash val="solid"/>
                  <a:miter lim="800000"/>
                </a:ln>
                <a:blipFill>
                  <a:blip r:embed="rId3"/>
                  <a:stretch>
                    <a:fillRect/>
                  </a:stretch>
                </a:blipFill>
                <a:effectLst>
                  <a:outerShdw blurRad="50800" dist="38100" dir="16200000" rotWithShape="0">
                    <a:prstClr val="black">
                      <a:alpha val="40000"/>
                    </a:prstClr>
                  </a:outerShdw>
                </a:effectLst>
                <a:latin typeface="Geez WashRa Bold" pitchFamily="2" charset="0"/>
              </a:rPr>
              <a:t>ርስቶስ</a:t>
            </a:r>
            <a:r>
              <a:rPr lang="en-US" sz="6000" b="1" dirty="0" smtClean="0">
                <a:ln w="17780" cmpd="sng">
                  <a:solidFill>
                    <a:srgbClr val="FFFFFF"/>
                  </a:solidFill>
                  <a:prstDash val="solid"/>
                  <a:miter lim="800000"/>
                </a:ln>
                <a:blipFill>
                  <a:blip r:embed="rId3"/>
                  <a:stretch>
                    <a:fillRect/>
                  </a:stretch>
                </a:blipFill>
                <a:effectLst>
                  <a:outerShdw blurRad="50800" dist="38100" dir="16200000" rotWithShape="0">
                    <a:prstClr val="black">
                      <a:alpha val="40000"/>
                    </a:prstClr>
                  </a:outerShdw>
                </a:effectLst>
                <a:latin typeface="Geez WashRa Bold" pitchFamily="2" charset="0"/>
              </a:rPr>
              <a:t> </a:t>
            </a:r>
            <a:r>
              <a:rPr lang="en-US" sz="8200" b="1" dirty="0" smtClean="0">
                <a:ln w="17780" cmpd="sng">
                  <a:solidFill>
                    <a:srgbClr val="FFFFFF"/>
                  </a:solidFill>
                  <a:prstDash val="solid"/>
                  <a:miter lim="800000"/>
                </a:ln>
                <a:blipFill>
                  <a:blip r:embed="rId3"/>
                  <a:stretch>
                    <a:fillRect/>
                  </a:stretch>
                </a:blipFill>
                <a:effectLst>
                  <a:outerShdw blurRad="50800" dist="38100" dir="16200000" rotWithShape="0">
                    <a:prstClr val="black">
                      <a:alpha val="40000"/>
                    </a:prstClr>
                  </a:outerShdw>
                </a:effectLst>
                <a:latin typeface="Geez WashRa Bold" pitchFamily="2" charset="0"/>
              </a:rPr>
              <a:t>ተንሥአ እሙታን: ሞተ ወኬዶ ለሞት: ለእለ ውስተ መቓብር ወሀበ ሕይወተ ዘለዓለም ዕረፍተ</a:t>
            </a:r>
            <a:r>
              <a:rPr lang="en-US" sz="8600" b="1" dirty="0" smtClean="0">
                <a:ln w="17780" cmpd="sng">
                  <a:solidFill>
                    <a:srgbClr val="FFFFFF"/>
                  </a:solidFill>
                  <a:prstDash val="solid"/>
                  <a:miter lim="800000"/>
                </a:ln>
                <a:blipFill>
                  <a:blip r:embed="rId3"/>
                  <a:stretch>
                    <a:fillRect/>
                  </a:stretch>
                </a:blipFill>
                <a:effectLst>
                  <a:outerShdw blurRad="50800" dist="38100" dir="16200000" rotWithShape="0">
                    <a:prstClr val="black">
                      <a:alpha val="40000"/>
                    </a:prstClr>
                  </a:outerShdw>
                </a:effectLst>
              </a:rPr>
              <a:t>።</a:t>
            </a:r>
            <a:endParaRPr lang="en-US" sz="8600" b="1" dirty="0">
              <a:ln w="17780" cmpd="sng">
                <a:solidFill>
                  <a:srgbClr val="FFFFFF"/>
                </a:solidFill>
                <a:prstDash val="solid"/>
                <a:miter lim="800000"/>
              </a:ln>
              <a:blipFill>
                <a:blip r:embed="rId3"/>
                <a:stretch>
                  <a:fillRect/>
                </a:stretch>
              </a:blip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307497058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m-ET" dirty="0" smtClean="0"/>
              <a:t> </a:t>
            </a:r>
            <a:endParaRPr lang="en-US" dirty="0"/>
          </a:p>
        </p:txBody>
      </p:sp>
      <p:sp>
        <p:nvSpPr>
          <p:cNvPr id="3" name="Content Placeholder 2"/>
          <p:cNvSpPr>
            <a:spLocks noGrp="1"/>
          </p:cNvSpPr>
          <p:nvPr>
            <p:ph idx="1"/>
          </p:nvPr>
        </p:nvSpPr>
        <p:spPr>
          <a:xfrm>
            <a:off x="307123" y="177633"/>
            <a:ext cx="8606118" cy="6680367"/>
          </a:xfrm>
          <a:noFill/>
          <a:ln>
            <a:noFill/>
          </a:ln>
        </p:spPr>
        <p:style>
          <a:lnRef idx="2">
            <a:schemeClr val="dk1"/>
          </a:lnRef>
          <a:fillRef idx="1">
            <a:schemeClr val="lt1"/>
          </a:fillRef>
          <a:effectRef idx="0">
            <a:schemeClr val="dk1"/>
          </a:effectRef>
          <a:fontRef idx="minor">
            <a:schemeClr val="dk1"/>
          </a:fontRef>
        </p:style>
        <p:txBody>
          <a:bodyPr>
            <a:noAutofit/>
          </a:bodyPr>
          <a:lstStyle/>
          <a:p>
            <a:pPr marL="0" indent="0">
              <a:buNone/>
            </a:pP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ተፈ</a:t>
            </a:r>
            <a:r>
              <a:rPr lang="en-US" sz="4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ሥ</a:t>
            </a:r>
            <a:r>
              <a:rPr lang="am-ET" sz="4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ሒ ኦ ማርያም . . . . .</a:t>
            </a:r>
          </a:p>
          <a:p>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እግዚኣብሔር ምስሌኪ</a:t>
            </a:r>
          </a:p>
          <a:p>
            <a:pPr marL="0" indent="0">
              <a:buNone/>
            </a:pP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ቡ</a:t>
            </a:r>
            <a:r>
              <a:rPr lang="en-US" sz="4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ር</a:t>
            </a:r>
            <a:r>
              <a:rPr lang="am-ET" sz="4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ክት ኣንቲ . . . . . </a:t>
            </a:r>
          </a:p>
          <a:p>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ቡ</a:t>
            </a:r>
            <a:r>
              <a:rPr lang="am-ET"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ሩክ ፍሬ ከር</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a:t>
            </a:r>
            <a:r>
              <a:rPr lang="am-ET"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ኪ</a:t>
            </a:r>
          </a:p>
          <a:p>
            <a:pPr marL="0" indent="0">
              <a:buNone/>
            </a:pPr>
            <a:r>
              <a:rPr lang="en-US" sz="4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ሰኣሊ ወጸል</a:t>
            </a:r>
            <a:r>
              <a:rPr lang="en-US" sz="4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ዪ</a:t>
            </a:r>
            <a:r>
              <a:rPr lang="am-ET" sz="4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a:t>
            </a:r>
            <a:endParaRPr lang="en-US" sz="45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ኀ</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 ፍቁር ወልድኪ</a:t>
            </a:r>
          </a:p>
          <a:p>
            <a:pPr marL="0" indent="0">
              <a:buNone/>
            </a:pPr>
            <a:r>
              <a:rPr lang="en-US"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en-US" sz="4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ኢየሱስ ክርስቶስ</a:t>
            </a:r>
            <a:endParaRPr lang="am-ET" sz="4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r>
              <a:rPr lang="en-US" sz="4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ከመ ይስረይ ለነ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ኃ</a:t>
            </a:r>
            <a:r>
              <a:rPr lang="am-ET"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ጣውኢነ </a:t>
            </a:r>
          </a:p>
        </p:txBody>
      </p:sp>
    </p:spTree>
    <p:extLst>
      <p:ext uri="{BB962C8B-B14F-4D97-AF65-F5344CB8AC3E}">
        <p14:creationId xmlns:p14="http://schemas.microsoft.com/office/powerpoint/2010/main" val="108254116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800" y="101600"/>
            <a:ext cx="11551024" cy="6857999"/>
          </a:xfrm>
        </p:spPr>
        <p:txBody>
          <a:bodyPr>
            <a:normAutofit lnSpcReduction="10000"/>
          </a:bodyPr>
          <a:lstStyle/>
          <a:p>
            <a:pPr marL="0" indent="0">
              <a:buNone/>
            </a:pP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ስብሓት </a:t>
            </a:r>
            <a:r>
              <a:rPr lang="am-ET" sz="48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ወክብር </a:t>
            </a:r>
            <a:r>
              <a:rPr lang="am-ET" sz="54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a:t>
            </a:r>
            <a:endParaRPr lang="en-US" sz="5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pPr marL="0" indent="0">
              <a:buNone/>
            </a:pPr>
            <a:r>
              <a:rPr lang="en-US" sz="5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5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ተን</a:t>
            </a:r>
            <a:r>
              <a:rPr lang="en-US" sz="5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ሥ</a:t>
            </a:r>
            <a:r>
              <a:rPr lang="am-ET" sz="5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ኡ </a:t>
            </a:r>
            <a:r>
              <a:rPr lang="am-ET"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ለጸሎት . . . . . </a:t>
            </a:r>
          </a:p>
          <a:p>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5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እግዚኦ ተ</a:t>
            </a:r>
            <a:r>
              <a:rPr lang="en-US" sz="65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ሣሀ</a:t>
            </a:r>
            <a:r>
              <a:rPr lang="am-ET" sz="65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ለነ</a:t>
            </a:r>
          </a:p>
          <a:p>
            <a:pPr marL="0" indent="0">
              <a:buNone/>
            </a:pPr>
            <a:r>
              <a:rPr lang="en-US" sz="5400" dirty="0">
                <a:solidFill>
                  <a:schemeClr val="accent1">
                    <a:lumMod val="75000"/>
                  </a:schemeClr>
                </a:solidFill>
              </a:rPr>
              <a:t>  </a:t>
            </a:r>
            <a:r>
              <a:rPr lang="am-ET" sz="54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ሰላም </a:t>
            </a:r>
            <a:r>
              <a:rPr lang="am-ET" sz="5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ለ</a:t>
            </a:r>
            <a:r>
              <a:rPr lang="en-US" sz="5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ኲ</a:t>
            </a:r>
            <a:r>
              <a:rPr lang="am-ET" sz="5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ልክሙ </a:t>
            </a:r>
            <a:endParaRPr lang="am-ET" sz="54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5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ምስለ </a:t>
            </a:r>
            <a:r>
              <a:rPr lang="am-ET" sz="6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መንፈስከ</a:t>
            </a:r>
            <a:endParaRPr lang="en-US" sz="6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buNone/>
            </a:pPr>
            <a:r>
              <a:rPr lang="en-US" sz="5400" dirty="0" smtClean="0">
                <a:solidFill>
                  <a:schemeClr val="accent1">
                    <a:lumMod val="75000"/>
                  </a:schemeClr>
                </a:solidFill>
              </a:rPr>
              <a:t>  </a:t>
            </a:r>
            <a:r>
              <a:rPr lang="en-US" sz="5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እግዚኣብሔር . . . . .</a:t>
            </a:r>
            <a:endParaRPr lang="en-US" sz="5400" dirty="0" smtClean="0">
              <a:solidFill>
                <a:srgbClr val="FF0000"/>
              </a:solidFill>
            </a:endParaRPr>
          </a:p>
          <a:p>
            <a:pPr marL="0" indent="0">
              <a:buNone/>
            </a:pPr>
            <a:r>
              <a:rPr lang="en-US" sz="5400" b="1" dirty="0" smtClean="0">
                <a:ln w="10160">
                  <a:solidFill>
                    <a:schemeClr val="bg1"/>
                  </a:solidFill>
                  <a:prstDash val="solid"/>
                </a:ln>
                <a:solidFill>
                  <a:srgbClr val="FFFFFF"/>
                </a:solidFill>
                <a:effectLst>
                  <a:glow rad="101600">
                    <a:schemeClr val="accent5">
                      <a:satMod val="175000"/>
                      <a:alpha val="40000"/>
                    </a:schemeClr>
                  </a:glow>
                  <a:outerShdw blurRad="38100" dist="22860" dir="5400000" algn="tl" rotWithShape="0">
                    <a:srgbClr val="000000">
                      <a:alpha val="30000"/>
                    </a:srgbClr>
                  </a:outerShdw>
                </a:effectLst>
              </a:rPr>
              <a:t>  </a:t>
            </a:r>
            <a:r>
              <a:rPr lang="am-ET" sz="5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ጸልዩ በእንተ ወንጌል ቅዱስ</a:t>
            </a:r>
          </a:p>
          <a:p>
            <a:r>
              <a:rPr lang="en-US"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ረስየነ ድልዋ</a:t>
            </a:r>
            <a:r>
              <a:rPr lang="en-US" sz="6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ነ</a:t>
            </a:r>
            <a:r>
              <a:rPr lang="am-ET" sz="6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ለሰሚ</a:t>
            </a:r>
            <a:r>
              <a:rPr lang="en-US" sz="65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ዐ</a:t>
            </a:r>
            <a:r>
              <a:rPr lang="am-ET" sz="6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ወንጌል ቅዱስ</a:t>
            </a:r>
          </a:p>
          <a:p>
            <a:pPr marL="0" indent="0">
              <a:buNone/>
            </a:pPr>
            <a:endParaRPr lang="en-US" sz="6000" b="1" dirty="0"/>
          </a:p>
        </p:txBody>
      </p:sp>
    </p:spTree>
    <p:extLst>
      <p:ext uri="{BB962C8B-B14F-4D97-AF65-F5344CB8AC3E}">
        <p14:creationId xmlns:p14="http://schemas.microsoft.com/office/powerpoint/2010/main" val="422492696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94070"/>
            <a:ext cx="12192000" cy="2980205"/>
          </a:xfrm>
        </p:spPr>
        <p:txBody>
          <a:bodyP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indent="0" algn="just">
              <a:spcBef>
                <a:spcPts val="0"/>
              </a:spcBef>
              <a:buNone/>
            </a:pPr>
            <a:r>
              <a:rPr lang="en-US" sz="6850" b="1" spc="50" dirty="0" smtClean="0">
                <a:ln w="11430"/>
                <a:blipFill dpi="0" rotWithShape="1">
                  <a:blip r:embed="rId2">
                    <a:extLst>
                      <a:ext uri="{28A0092B-C50C-407E-A947-70E740481C1C}">
                        <a14:useLocalDpi xmlns:a14="http://schemas.microsoft.com/office/drawing/2010/main" val="0"/>
                      </a:ext>
                    </a:extLst>
                  </a:blip>
                  <a:srcRect/>
                  <a:stretch>
                    <a:fillRect/>
                  </a:stretch>
                </a:blipFill>
                <a:effectLst>
                  <a:outerShdw blurRad="76200" dist="50800" dir="5400000" algn="tl" rotWithShape="0">
                    <a:srgbClr val="000000">
                      <a:alpha val="65000"/>
                    </a:srgbClr>
                  </a:outerShdw>
                </a:effectLst>
              </a:rPr>
              <a:t>ዐይነ ኲሉ ነፍሰ ይሴፎ ኪያከ፡ ኣንተ ትሀቦሙ ሲሳዮሙ በግዜሁ፡ ትሰፍሕ የማነከ ወታጸግብ ለኲሉ እንስሳ ዘበሥርዓትከ</a:t>
            </a:r>
            <a:r>
              <a:rPr lang="en-US" sz="6850" b="1" spc="50" dirty="0" smtClean="0">
                <a:ln w="11430"/>
                <a:blipFill dpi="0" rotWithShape="1">
                  <a:blip r:embed="rId2">
                    <a:extLst>
                      <a:ext uri="{28A0092B-C50C-407E-A947-70E740481C1C}">
                        <a14:useLocalDpi xmlns:a14="http://schemas.microsoft.com/office/drawing/2010/main" val="0"/>
                      </a:ext>
                    </a:extLst>
                  </a:blip>
                  <a:srcRect/>
                  <a:stretch>
                    <a:fillRect/>
                  </a:stretch>
                </a:blipFill>
                <a:effectLst>
                  <a:outerShdw blurRad="76200" dist="50800" dir="5400000" algn="tl" rotWithShape="0">
                    <a:srgbClr val="000000">
                      <a:alpha val="65000"/>
                    </a:srgbClr>
                  </a:outerShdw>
                </a:effectLst>
              </a:rPr>
              <a:t>።</a:t>
            </a:r>
            <a:endParaRPr lang="en-US" sz="6850" b="1" spc="50" dirty="0" smtClean="0">
              <a:ln w="11430"/>
              <a:blipFill dpi="0" rotWithShape="1">
                <a:blip r:embed="rId2">
                  <a:extLst>
                    <a:ext uri="{28A0092B-C50C-407E-A947-70E740481C1C}">
                      <a14:useLocalDpi xmlns:a14="http://schemas.microsoft.com/office/drawing/2010/main" val="0"/>
                    </a:ext>
                  </a:extLst>
                </a:blip>
                <a:srcRect/>
                <a:stretch>
                  <a:fillRect/>
                </a:stretch>
              </a:blipFill>
              <a:effectLst>
                <a:outerShdw blurRad="76200" dist="50800" dir="5400000" algn="tl" rotWithShape="0">
                  <a:srgbClr val="000000">
                    <a:alpha val="65000"/>
                  </a:srgbClr>
                </a:outerShdw>
              </a:effectLst>
            </a:endParaRPr>
          </a:p>
        </p:txBody>
      </p:sp>
      <p:sp>
        <p:nvSpPr>
          <p:cNvPr id="4" name="Content Placeholder 2"/>
          <p:cNvSpPr txBox="1">
            <a:spLocks/>
          </p:cNvSpPr>
          <p:nvPr/>
        </p:nvSpPr>
        <p:spPr>
          <a:xfrm>
            <a:off x="-35858" y="3766247"/>
            <a:ext cx="12192000" cy="2728682"/>
          </a:xfrm>
          <a:prstGeom prst="rect">
            <a:avLst/>
          </a:prstGeom>
        </p:spPr>
        <p:txBody>
          <a:bodyPr vert="horz" lIns="91440" tIns="45720" rIns="91440" bIns="45720" rtlCol="0">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75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t>
            </a:r>
            <a:endParaRPr lang="en-US" sz="7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5" name="Title 1"/>
          <p:cNvSpPr txBox="1">
            <a:spLocks/>
          </p:cNvSpPr>
          <p:nvPr/>
        </p:nvSpPr>
        <p:spPr>
          <a:xfrm>
            <a:off x="4483" y="3396343"/>
            <a:ext cx="12192000" cy="3540035"/>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6600" b="1" dirty="0">
                <a:ln w="10160">
                  <a:solidFill>
                    <a:schemeClr val="bg1"/>
                  </a:solidFill>
                  <a:prstDash val="solid"/>
                </a:ln>
                <a:solidFill>
                  <a:srgbClr val="FFFFFF"/>
                </a:solidFill>
                <a:effectLst>
                  <a:glow rad="101600">
                    <a:srgbClr val="000000">
                      <a:alpha val="60000"/>
                    </a:srgbClr>
                  </a:glow>
                  <a:outerShdw blurRad="38100" dist="22860" dir="5400000" algn="tl" rotWithShape="0">
                    <a:srgbClr val="000000">
                      <a:alpha val="30000"/>
                    </a:srgbClr>
                  </a:outerShdw>
                </a:effectLst>
              </a:rPr>
              <a:t> </a:t>
            </a:r>
            <a:r>
              <a:rPr lang="en-US" sz="6600" b="1" dirty="0" smtClean="0">
                <a:ln w="10160">
                  <a:solidFill>
                    <a:schemeClr val="bg1"/>
                  </a:solidFill>
                  <a:prstDash val="solid"/>
                </a:ln>
                <a:solidFill>
                  <a:srgbClr val="FFFFFF"/>
                </a:solidFill>
                <a:effectLst>
                  <a:glow rad="101600">
                    <a:srgbClr val="000000">
                      <a:alpha val="60000"/>
                    </a:srgbClr>
                  </a:glow>
                  <a:outerShdw blurRad="38100" dist="22860" dir="5400000" algn="tl" rotWithShape="0">
                    <a:srgbClr val="000000">
                      <a:alpha val="30000"/>
                    </a:srgbClr>
                  </a:outerShdw>
                </a:effectLst>
              </a:rPr>
              <a:t> </a:t>
            </a:r>
            <a:r>
              <a:rPr lang="en-US"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latin typeface="Arial Black" pitchFamily="34" charset="0"/>
              </a:rPr>
              <a:t>``</a:t>
            </a:r>
            <a:r>
              <a:rPr lang="en-GB" sz="6800" b="1" dirty="0" smtClean="0">
                <a:ln w="17780" cmpd="sng">
                  <a:solidFill>
                    <a:srgbClr val="FFFFFF"/>
                  </a:solidFill>
                  <a:prstDash val="solid"/>
                  <a:miter lim="800000"/>
                </a:ln>
                <a:blipFill>
                  <a:blip r:embed="rId3"/>
                  <a:stretch>
                    <a:fillRect/>
                  </a:stretch>
                </a:blipFill>
                <a:effectLst>
                  <a:outerShdw blurRad="50800" dist="38100" dir="18900000" algn="bl" rotWithShape="0">
                    <a:prstClr val="black">
                      <a:alpha val="40000"/>
                    </a:prstClr>
                  </a:outerShdw>
                </a:effectLst>
              </a:rPr>
              <a:t>ኣዒንቲ ኹሎም ንኣኻ ይጽበያ፡ ንስኻ `ውን በብግዜኡ ምግቦም ትህቦም። ኢድካ ትኸፍት`ሞ ንህያው ዘበለ ኩሉ ብበረኸት ተጽግቦ።</a:t>
            </a:r>
            <a:r>
              <a:rPr lang="en-US"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latin typeface="Arial Black" pitchFamily="34" charset="0"/>
              </a:rPr>
              <a:t>``</a:t>
            </a:r>
            <a:endParaRPr lang="en-US" sz="7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latin typeface="Arial Black" pitchFamily="34" charset="0"/>
            </a:endParaRPr>
          </a:p>
        </p:txBody>
      </p:sp>
      <p:sp>
        <p:nvSpPr>
          <p:cNvPr id="2" name="Rectangle 1"/>
          <p:cNvSpPr/>
          <p:nvPr/>
        </p:nvSpPr>
        <p:spPr>
          <a:xfrm>
            <a:off x="3252611" y="6037843"/>
            <a:ext cx="3187340" cy="769441"/>
          </a:xfrm>
          <a:prstGeom prst="rect">
            <a:avLst/>
          </a:prstGeom>
        </p:spPr>
        <p:txBody>
          <a:bodyPr wrap="square">
            <a:spAutoFit/>
          </a:bodyPr>
          <a:lstStyle/>
          <a:p>
            <a:r>
              <a:rPr lang="en-US" sz="4400" b="1" dirty="0">
                <a:ln w="12700">
                  <a:solidFill>
                    <a:schemeClr val="tx1">
                      <a:lumMod val="95000"/>
                      <a:lumOff val="5000"/>
                    </a:schemeClr>
                  </a:solidFill>
                  <a:prstDash val="solid"/>
                </a:ln>
                <a:solidFill>
                  <a:srgbClr val="0070C0"/>
                </a:solidFill>
                <a:effectLst>
                  <a:outerShdw blurRad="41275" dist="20320" dir="1800000" algn="tl" rotWithShape="0">
                    <a:srgbClr val="000000">
                      <a:alpha val="40000"/>
                    </a:srgbClr>
                  </a:outerShdw>
                </a:effectLst>
              </a:rPr>
              <a:t>(መዝ: </a:t>
            </a:r>
            <a:r>
              <a:rPr lang="en-US" sz="4400" b="1" dirty="0" smtClean="0">
                <a:ln w="12700">
                  <a:solidFill>
                    <a:schemeClr val="tx1">
                      <a:lumMod val="95000"/>
                      <a:lumOff val="5000"/>
                    </a:schemeClr>
                  </a:solidFill>
                  <a:prstDash val="solid"/>
                </a:ln>
                <a:solidFill>
                  <a:srgbClr val="0070C0"/>
                </a:solidFill>
                <a:effectLst>
                  <a:outerShdw blurRad="41275" dist="20320" dir="1800000" algn="tl" rotWithShape="0">
                    <a:srgbClr val="000000">
                      <a:alpha val="40000"/>
                    </a:srgbClr>
                  </a:outerShdw>
                </a:effectLst>
              </a:rPr>
              <a:t>145:15)</a:t>
            </a:r>
            <a:endParaRPr lang="en-GB" sz="4400" dirty="0"/>
          </a:p>
        </p:txBody>
      </p:sp>
    </p:spTree>
    <p:extLst>
      <p:ext uri="{BB962C8B-B14F-4D97-AF65-F5344CB8AC3E}">
        <p14:creationId xmlns:p14="http://schemas.microsoft.com/office/powerpoint/2010/main" val="126726796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800" y="276411"/>
            <a:ext cx="11551024" cy="6433671"/>
          </a:xfrm>
        </p:spPr>
        <p:txBody>
          <a:bodyPr>
            <a:normAutofit/>
          </a:bodyPr>
          <a:lstStyle/>
          <a:p>
            <a:pPr marL="0" indent="0">
              <a:buNone/>
            </a:pP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en-GB" sz="5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ቡሩክ እግዚኣብሔር</a:t>
            </a:r>
            <a:r>
              <a:rPr lang="am-ET" sz="5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55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a:t>
            </a:r>
            <a:endParaRPr lang="en-US" sz="55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r>
              <a:rPr lang="en-GB"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GB" sz="7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አእኲትዎ ለኣብ</a:t>
            </a:r>
            <a:endParaRPr lang="am-ET" sz="75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buNone/>
            </a:pPr>
            <a:r>
              <a:rPr lang="en-GB" sz="5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en-GB" sz="5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ወቡሩክ ወልድ ዋሕድ. . . . .</a:t>
            </a:r>
            <a:r>
              <a:rPr lang="am-ET" sz="5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endParaRPr lang="am-ET" sz="55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GB" sz="7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አእኲትዎ ለወልድ</a:t>
            </a:r>
            <a:endParaRPr lang="en-US" sz="7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buNone/>
            </a:pPr>
            <a:r>
              <a:rPr lang="en-US" sz="5400" dirty="0" smtClean="0">
                <a:solidFill>
                  <a:schemeClr val="accent1">
                    <a:lumMod val="75000"/>
                  </a:schemeClr>
                </a:solidFill>
              </a:rPr>
              <a:t>  </a:t>
            </a:r>
            <a:r>
              <a:rPr lang="en-US" sz="55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ወቡሩክ መንፈስ ቅዱስ. . . . .</a:t>
            </a:r>
            <a:endParaRPr lang="en-US" sz="5500" dirty="0" smtClean="0">
              <a:solidFill>
                <a:srgbClr val="FF0000"/>
              </a:solidFill>
            </a:endParaRPr>
          </a:p>
          <a:p>
            <a:r>
              <a:rPr lang="en-GB" sz="6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GB" sz="7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አእኲትዎ ለመንፈስ ቅዱስ</a:t>
            </a:r>
            <a:endParaRPr lang="am-ET" sz="7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257218090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5224" y="871953"/>
            <a:ext cx="11551024" cy="4495800"/>
          </a:xfrm>
        </p:spPr>
        <p:txBody>
          <a:bodyPr>
            <a:normAutofit/>
          </a:bodyPr>
          <a:lstStyle/>
          <a:p>
            <a:pPr marL="0" indent="0">
              <a:buNone/>
            </a:pP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en-US" sz="5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ሃሌ-ሉያ </a:t>
            </a:r>
            <a:r>
              <a:rPr lang="en-US"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ቁ</a:t>
            </a:r>
            <a:r>
              <a:rPr lang="en-US" sz="5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ሙ ወአጽምኡ</a:t>
            </a:r>
            <a:r>
              <a:rPr lang="am-ET" sz="5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 . . . </a:t>
            </a:r>
            <a:endParaRPr lang="en-US" sz="5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marL="0" indent="0">
              <a:buNone/>
            </a:pPr>
            <a:r>
              <a:rPr lang="en-US" sz="5400" dirty="0" smtClean="0">
                <a:solidFill>
                  <a:schemeClr val="accent1">
                    <a:lumMod val="75000"/>
                  </a:schemeClr>
                </a:solidFill>
              </a:rPr>
              <a:t>  </a:t>
            </a:r>
            <a:r>
              <a:rPr lang="en-US" sz="5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እግዚኣብሔር ምስለ ኲልክሙ</a:t>
            </a:r>
            <a:endParaRPr lang="am-ET" sz="54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ምስለ </a:t>
            </a:r>
            <a:r>
              <a:rPr lang="am-ET" sz="6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መንፈስከ</a:t>
            </a:r>
            <a:endParaRPr lang="en-US" sz="6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buNone/>
            </a:pPr>
            <a:r>
              <a:rPr lang="en-US" sz="5400" dirty="0" smtClean="0">
                <a:solidFill>
                  <a:schemeClr val="accent1">
                    <a:lumMod val="75000"/>
                  </a:schemeClr>
                </a:solidFill>
              </a:rPr>
              <a:t>  </a:t>
            </a:r>
            <a:r>
              <a:rPr lang="en-US" sz="5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ወንጌል ቅዱስ ዘዜነወ (ዘሰበከ) . . . . .</a:t>
            </a:r>
            <a:endParaRPr lang="en-US" sz="5400" dirty="0" smtClean="0">
              <a:solidFill>
                <a:srgbClr val="FF0000"/>
              </a:solidFill>
            </a:endParaRPr>
          </a:p>
          <a:p>
            <a:pPr marL="0" indent="0">
              <a:buNone/>
            </a:pPr>
            <a:r>
              <a:rPr lang="en-US" sz="5400" b="1" dirty="0" smtClean="0">
                <a:ln w="10160">
                  <a:solidFill>
                    <a:schemeClr val="bg1"/>
                  </a:solidFill>
                  <a:prstDash val="solid"/>
                </a:ln>
                <a:solidFill>
                  <a:srgbClr val="FFFFFF"/>
                </a:solidFill>
                <a:effectLst>
                  <a:glow rad="101600">
                    <a:schemeClr val="accent5">
                      <a:satMod val="175000"/>
                      <a:alpha val="40000"/>
                    </a:schemeClr>
                  </a:glow>
                  <a:outerShdw blurRad="38100" dist="22860" dir="5400000" algn="tl" rotWithShape="0">
                    <a:srgbClr val="000000">
                      <a:alpha val="30000"/>
                    </a:srgbClr>
                  </a:outerShdw>
                </a:effectLst>
              </a:rPr>
              <a:t>  </a:t>
            </a:r>
            <a:endParaRPr lang="en-US" sz="6000" b="1" dirty="0"/>
          </a:p>
        </p:txBody>
      </p:sp>
    </p:spTree>
    <p:extLst>
      <p:ext uri="{BB962C8B-B14F-4D97-AF65-F5344CB8AC3E}">
        <p14:creationId xmlns:p14="http://schemas.microsoft.com/office/powerpoint/2010/main" val="346643049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Content Placeholder 2"/>
          <p:cNvSpPr>
            <a:spLocks noGrp="1"/>
          </p:cNvSpPr>
          <p:nvPr>
            <p:ph idx="1"/>
          </p:nvPr>
        </p:nvSpPr>
        <p:spPr>
          <a:xfrm>
            <a:off x="344888" y="367324"/>
            <a:ext cx="11310300" cy="6225387"/>
          </a:xfrm>
        </p:spPr>
        <p:txBody>
          <a:bodyPr>
            <a:noAutofit/>
          </a:bodyPr>
          <a:lstStyle/>
          <a:p>
            <a:pPr marL="0" indent="0" algn="just">
              <a:buNone/>
            </a:pP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ስብሐት </a:t>
            </a:r>
            <a:r>
              <a:rPr lang="en-US" sz="7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ለከ ክርስቶስ እግዚእየ </a:t>
            </a:r>
            <a:r>
              <a:rPr lang="en-US"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ወአምላኪየ  ኲሎ </a:t>
            </a:r>
            <a:r>
              <a:rPr lang="en-US" sz="7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ግዜ</a:t>
            </a:r>
            <a:r>
              <a:rPr lang="en-US"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p>
          <a:p>
            <a:pPr marL="0" indent="0" algn="just">
              <a:buNone/>
            </a:pPr>
            <a:endParaRPr lang="en-US" sz="1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ተፈሥሑ በእግዚኣብሔር ዘረድአነ </a:t>
            </a:r>
            <a:r>
              <a:rPr lang="en-US" sz="7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ወየብቡ </a:t>
            </a:r>
            <a:r>
              <a:rPr lang="en-US"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ለኣምላከ </a:t>
            </a:r>
            <a:r>
              <a:rPr lang="en-US" sz="7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ያዕቆብ </a:t>
            </a:r>
            <a:r>
              <a:rPr lang="en-US"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ንሥኡ </a:t>
            </a:r>
            <a:r>
              <a:rPr lang="en-US" sz="7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መዝሙረ ወሀቡ ከበሮ፡ መዝሙር ሐዋዝ ዘምስለ መሰንቆ።</a:t>
            </a:r>
          </a:p>
        </p:txBody>
      </p:sp>
    </p:spTree>
    <p:extLst>
      <p:ext uri="{BB962C8B-B14F-4D97-AF65-F5344CB8AC3E}">
        <p14:creationId xmlns:p14="http://schemas.microsoft.com/office/powerpoint/2010/main" val="126725577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0" y="1494381"/>
            <a:ext cx="12290612" cy="32927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8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በወንጌል መራሕከነ ወበነብያት ናዘዝከነ ዘለሊከ ኣቅረብከነ ስብሓት ለከ።</a:t>
            </a:r>
            <a:endPar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
        <p:nvSpPr>
          <p:cNvPr id="4" name="Content Placeholder 2"/>
          <p:cNvSpPr txBox="1">
            <a:spLocks/>
          </p:cNvSpPr>
          <p:nvPr/>
        </p:nvSpPr>
        <p:spPr>
          <a:xfrm>
            <a:off x="479358" y="377654"/>
            <a:ext cx="5719735" cy="751900"/>
          </a:xfrm>
          <a:prstGeom prst="rect">
            <a:avLst/>
          </a:prstGeom>
        </p:spPr>
        <p:txBody>
          <a:bodyPr vert="horz" lIns="91440" tIns="45720" rIns="91440" bIns="45720" rtlCol="0">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4400" b="1" spc="50" dirty="0" smtClean="0">
                <a:ln w="11430"/>
                <a:blipFill dpi="0" rotWithShape="1">
                  <a:blip r:embed="rId2">
                    <a:extLst>
                      <a:ext uri="{28A0092B-C50C-407E-A947-70E740481C1C}">
                        <a14:useLocalDpi xmlns:a14="http://schemas.microsoft.com/office/drawing/2010/main" val="0"/>
                      </a:ext>
                    </a:extLst>
                  </a:blip>
                  <a:srcRect/>
                  <a:stretch>
                    <a:fillRect/>
                  </a:stretch>
                </a:blipFill>
                <a:effectLst>
                  <a:outerShdw blurRad="76200" dist="50800" dir="5400000" algn="tl" rotWithShape="0">
                    <a:srgbClr val="000000">
                      <a:alpha val="65000"/>
                    </a:srgbClr>
                  </a:outerShdw>
                </a:effectLst>
              </a:rPr>
              <a:t>ወበዘመነ ጾም ህየንተ ተፈሥሑ</a:t>
            </a:r>
            <a:endParaRPr lang="en-US" sz="4400" b="1" spc="50" dirty="0">
              <a:ln w="11430"/>
              <a:blipFill dpi="0" rotWithShape="1">
                <a:blip r:embed="rId2">
                  <a:extLst>
                    <a:ext uri="{28A0092B-C50C-407E-A947-70E740481C1C}">
                      <a14:useLocalDpi xmlns:a14="http://schemas.microsoft.com/office/drawing/2010/main" val="0"/>
                    </a:ext>
                  </a:extLst>
                </a:blip>
                <a:srcRect/>
                <a:stretch>
                  <a:fillRect/>
                </a:stretch>
              </a:blip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136700449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itle 1"/>
          <p:cNvSpPr>
            <a:spLocks noGrp="1"/>
          </p:cNvSpPr>
          <p:nvPr>
            <p:ph type="ctrTitle"/>
          </p:nvPr>
        </p:nvSpPr>
        <p:spPr/>
        <p:txBody>
          <a:bodyPr>
            <a:normAutofit/>
          </a:bodyPr>
          <a:lstStyle/>
          <a:p>
            <a:pPr eaLnBrk="1" hangingPunct="1"/>
            <a:r>
              <a:rPr lang="en-US" sz="13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rPr>
              <a:t>ወንጌል</a:t>
            </a:r>
            <a:endParaRPr lang="en-US" sz="13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Geez WashRa Bold" pitchFamily="2" charset="0"/>
            </a:endParaRPr>
          </a:p>
        </p:txBody>
      </p:sp>
      <p:sp>
        <p:nvSpPr>
          <p:cNvPr id="3076" name="Subtitle 2"/>
          <p:cNvSpPr>
            <a:spLocks noGrp="1"/>
          </p:cNvSpPr>
          <p:nvPr>
            <p:ph type="subTitle" idx="1"/>
          </p:nvPr>
        </p:nvSpPr>
        <p:spPr>
          <a:xfrm>
            <a:off x="1306287" y="3619563"/>
            <a:ext cx="9811742" cy="1448825"/>
          </a:xfrm>
          <a:noFill/>
        </p:spPr>
        <p:txBody>
          <a:bodyPr>
            <a:normAutofit lnSpcReduction="10000"/>
          </a:bodyPr>
          <a:lstStyle/>
          <a:p>
            <a:pPr eaLnBrk="1" hangingPunct="1"/>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ዮሓ</a:t>
            </a:r>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 6፡ 41 </a:t>
            </a:r>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 </a:t>
            </a:r>
            <a:r>
              <a:rPr lang="en-US" sz="10500"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ፍጻሜ</a:t>
            </a:r>
            <a:endParaRPr lang="en-US" sz="10500" b="1" dirty="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endParaRPr>
          </a:p>
        </p:txBody>
      </p:sp>
    </p:spTree>
    <p:extLst>
      <p:ext uri="{BB962C8B-B14F-4D97-AF65-F5344CB8AC3E}">
        <p14:creationId xmlns:p14="http://schemas.microsoft.com/office/powerpoint/2010/main" val="244288633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0" y="1371601"/>
            <a:ext cx="12191999" cy="4046559"/>
          </a:xfrm>
        </p:spPr>
        <p:txBody>
          <a:bodyPr>
            <a:normAutofit lnSpcReduction="10000"/>
          </a:bodyPr>
          <a:lstStyle/>
          <a:p>
            <a:pPr marL="0" indent="0" algn="just">
              <a:buNone/>
            </a:pPr>
            <a:r>
              <a:rPr lang="en-US"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8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ነአምን አበ ዘበአማን</a:t>
            </a:r>
            <a:r>
              <a:rPr lang="en-US" sz="8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8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ወነአምን ወልደ ዘበአማን</a:t>
            </a:r>
            <a:r>
              <a:rPr lang="en-US" sz="8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8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ወነአምን መንፈሰ </a:t>
            </a:r>
            <a:r>
              <a:rPr lang="en-US" sz="8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ቅዱስ </a:t>
            </a:r>
            <a:r>
              <a:rPr lang="en-US" sz="8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ዘበአማን</a:t>
            </a:r>
            <a:r>
              <a:rPr lang="en-US" sz="8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8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ህልወ ሥላሴሆሙ ነአምን።</a:t>
            </a:r>
            <a:endPar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
        <p:nvSpPr>
          <p:cNvPr id="4" name="Content Placeholder 2"/>
          <p:cNvSpPr txBox="1">
            <a:spLocks/>
          </p:cNvSpPr>
          <p:nvPr/>
        </p:nvSpPr>
        <p:spPr>
          <a:xfrm>
            <a:off x="479358" y="377654"/>
            <a:ext cx="5719735" cy="751900"/>
          </a:xfrm>
          <a:prstGeom prst="rect">
            <a:avLst/>
          </a:prstGeom>
        </p:spPr>
        <p:txBody>
          <a:bodyPr vert="horz" lIns="91440" tIns="45720" rIns="91440" bIns="45720" rtlCol="0">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4400" b="1" spc="50" dirty="0" smtClean="0">
                <a:ln w="11430"/>
                <a:blipFill dpi="0" rotWithShape="1">
                  <a:blip r:embed="rId2">
                    <a:extLst>
                      <a:ext uri="{28A0092B-C50C-407E-A947-70E740481C1C}">
                        <a14:useLocalDpi xmlns:a14="http://schemas.microsoft.com/office/drawing/2010/main" val="0"/>
                      </a:ext>
                    </a:extLst>
                  </a:blip>
                  <a:srcRect/>
                  <a:stretch>
                    <a:fillRect/>
                  </a:stretch>
                </a:blipFill>
                <a:effectLst>
                  <a:outerShdw blurRad="76200" dist="50800" dir="5400000" algn="tl" rotWithShape="0">
                    <a:srgbClr val="000000">
                      <a:alpha val="65000"/>
                    </a:srgbClr>
                  </a:outerShdw>
                </a:effectLst>
              </a:rPr>
              <a:t>መእምድኅረ አንበበ ማቴዎስ</a:t>
            </a:r>
            <a:endParaRPr lang="en-US" sz="4400" b="1" spc="50" dirty="0">
              <a:ln w="11430"/>
              <a:blipFill dpi="0" rotWithShape="1">
                <a:blip r:embed="rId2">
                  <a:extLst>
                    <a:ext uri="{28A0092B-C50C-407E-A947-70E740481C1C}">
                      <a14:useLocalDpi xmlns:a14="http://schemas.microsoft.com/office/drawing/2010/main" val="0"/>
                    </a:ext>
                  </a:extLst>
                </a:blip>
                <a:srcRect/>
                <a:stretch>
                  <a:fillRect/>
                </a:stretch>
              </a:blip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48026305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Content Placeholder 2"/>
          <p:cNvSpPr>
            <a:spLocks noGrp="1"/>
          </p:cNvSpPr>
          <p:nvPr>
            <p:ph idx="1"/>
          </p:nvPr>
        </p:nvSpPr>
        <p:spPr>
          <a:xfrm>
            <a:off x="0" y="1183342"/>
            <a:ext cx="12192000" cy="4652682"/>
          </a:xfrm>
        </p:spPr>
        <p:txBody>
          <a:bodyPr>
            <a:normAutofit/>
          </a:bodyPr>
          <a:lstStyle/>
          <a:p>
            <a:pPr marL="0" indent="0" algn="just">
              <a:buNone/>
            </a:pP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8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እሉ </a:t>
            </a:r>
            <a:r>
              <a:rPr lang="en-US" sz="8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ኪሩቤል ወሱራፌል ያዐርጉ ሎቱ </a:t>
            </a:r>
            <a:r>
              <a:rPr lang="en-US" sz="8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ስብሐተ </a:t>
            </a:r>
            <a:r>
              <a:rPr lang="en-US" sz="8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እንዘ ይብሉ፡ ቅዱስ ቅዱስ ቅዱስ </a:t>
            </a:r>
            <a:r>
              <a:rPr lang="en-US" sz="8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አንተ </a:t>
            </a:r>
            <a:r>
              <a:rPr lang="en-US" sz="8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እግዚኣብሔር </a:t>
            </a:r>
            <a:r>
              <a:rPr lang="en-US" sz="8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አብ </a:t>
            </a:r>
            <a:r>
              <a:rPr lang="en-US" sz="8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ወወልድ ወመንፈስ ቅዱስ።</a:t>
            </a:r>
            <a:endPar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
        <p:nvSpPr>
          <p:cNvPr id="4" name="Content Placeholder 2"/>
          <p:cNvSpPr txBox="1">
            <a:spLocks/>
          </p:cNvSpPr>
          <p:nvPr/>
        </p:nvSpPr>
        <p:spPr>
          <a:xfrm>
            <a:off x="398676" y="377654"/>
            <a:ext cx="5719735" cy="751900"/>
          </a:xfrm>
          <a:prstGeom prst="rect">
            <a:avLst/>
          </a:prstGeom>
        </p:spPr>
        <p:txBody>
          <a:bodyPr vert="horz" lIns="91440" tIns="45720" rIns="91440" bIns="45720" rtlCol="0">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4400" b="1" spc="50" dirty="0" smtClean="0">
                <a:ln w="11430"/>
                <a:blipFill dpi="0" rotWithShape="1">
                  <a:blip r:embed="rId2">
                    <a:extLst>
                      <a:ext uri="{28A0092B-C50C-407E-A947-70E740481C1C}">
                        <a14:useLocalDpi xmlns:a14="http://schemas.microsoft.com/office/drawing/2010/main" val="0"/>
                      </a:ext>
                    </a:extLst>
                  </a:blip>
                  <a:srcRect/>
                  <a:stretch>
                    <a:fillRect/>
                  </a:stretch>
                </a:blipFill>
                <a:effectLst>
                  <a:outerShdw blurRad="76200" dist="50800" dir="5400000" algn="tl" rotWithShape="0">
                    <a:srgbClr val="000000">
                      <a:alpha val="65000"/>
                    </a:srgbClr>
                  </a:outerShdw>
                </a:effectLst>
              </a:rPr>
              <a:t>መእምድኅረ አንበበ ማርቆስ</a:t>
            </a:r>
            <a:endParaRPr lang="en-US" sz="4400" b="1" spc="50" dirty="0">
              <a:ln w="11430"/>
              <a:blipFill dpi="0" rotWithShape="1">
                <a:blip r:embed="rId2">
                  <a:extLst>
                    <a:ext uri="{28A0092B-C50C-407E-A947-70E740481C1C}">
                      <a14:useLocalDpi xmlns:a14="http://schemas.microsoft.com/office/drawing/2010/main" val="0"/>
                    </a:ext>
                  </a:extLst>
                </a:blip>
                <a:srcRect/>
                <a:stretch>
                  <a:fillRect/>
                </a:stretch>
              </a:blip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344958273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Content Placeholder 2"/>
          <p:cNvSpPr>
            <a:spLocks noGrp="1"/>
          </p:cNvSpPr>
          <p:nvPr>
            <p:ph idx="1"/>
          </p:nvPr>
        </p:nvSpPr>
        <p:spPr>
          <a:xfrm>
            <a:off x="67436" y="867878"/>
            <a:ext cx="11927541" cy="5803069"/>
          </a:xfrm>
        </p:spPr>
        <p:txBody>
          <a:bodyPr>
            <a:noAutofit/>
          </a:bodyPr>
          <a:lstStyle/>
          <a:p>
            <a:pPr marL="0" indent="0" algn="just">
              <a:buNone/>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መኑ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ይመስለከ እምነ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ኣማልክት እግዚኦ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ኣንተ ውእቱ ዘትገብር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መንክረ፡ ኣርአይኮሙ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ለሕዝብከ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ኀይለከ፡ ወአድኀንኮሙ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ለሕዝብከ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በመዝራዕትከ፡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ሖርከ ውስተ ሲኦል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ወአዕረገ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ጼዋ እምህየ፡ ወጸጎከነ ምዕረ ዳግመ ግዕዛነ እስመ መጻእከ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ወአድኀንከነ፡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በእንተ ዝንቱ ንሴብሐከ ወንጸርሕ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ኀቤከ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እንዘ ንብል፡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ቡሩክ አንተ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እግዚኦ ኢየሱስ ክርስቶስ እስመ መጻእከ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ወአድኀንከነ።</a:t>
            </a:r>
            <a:endPar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
        <p:nvSpPr>
          <p:cNvPr id="4" name="Content Placeholder 2"/>
          <p:cNvSpPr txBox="1">
            <a:spLocks/>
          </p:cNvSpPr>
          <p:nvPr/>
        </p:nvSpPr>
        <p:spPr>
          <a:xfrm>
            <a:off x="385229" y="123367"/>
            <a:ext cx="5719735" cy="751900"/>
          </a:xfrm>
          <a:prstGeom prst="rect">
            <a:avLst/>
          </a:prstGeom>
        </p:spPr>
        <p:txBody>
          <a:bodyPr vert="horz" lIns="91440" tIns="45720" rIns="91440" bIns="45720" rtlCol="0">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4400" b="1" spc="50" dirty="0" smtClean="0">
                <a:ln w="11430"/>
                <a:blipFill dpi="0" rotWithShape="1">
                  <a:blip r:embed="rId2">
                    <a:extLst>
                      <a:ext uri="{28A0092B-C50C-407E-A947-70E740481C1C}">
                        <a14:useLocalDpi xmlns:a14="http://schemas.microsoft.com/office/drawing/2010/main" val="0"/>
                      </a:ext>
                    </a:extLst>
                  </a:blip>
                  <a:srcRect/>
                  <a:stretch>
                    <a:fillRect/>
                  </a:stretch>
                </a:blipFill>
                <a:effectLst>
                  <a:outerShdw blurRad="76200" dist="50800" dir="5400000" algn="tl" rotWithShape="0">
                    <a:srgbClr val="000000">
                      <a:alpha val="65000"/>
                    </a:srgbClr>
                  </a:outerShdw>
                </a:effectLst>
              </a:rPr>
              <a:t>መእምድኅረ አንበበ ሉቃስ</a:t>
            </a:r>
            <a:endParaRPr lang="en-US" sz="4400" b="1" spc="50" dirty="0">
              <a:ln w="11430"/>
              <a:blipFill dpi="0" rotWithShape="1">
                <a:blip r:embed="rId2">
                  <a:extLst>
                    <a:ext uri="{28A0092B-C50C-407E-A947-70E740481C1C}">
                      <a14:useLocalDpi xmlns:a14="http://schemas.microsoft.com/office/drawing/2010/main" val="0"/>
                    </a:ext>
                  </a:extLst>
                </a:blip>
                <a:srcRect/>
                <a:stretch>
                  <a:fillRect/>
                </a:stretch>
              </a:blip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333432083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a:xfrm>
            <a:off x="0" y="970240"/>
            <a:ext cx="12192000" cy="5761040"/>
          </a:xfrm>
        </p:spPr>
        <p:txBody>
          <a:bodyPr>
            <a:noAutofit/>
          </a:bodyPr>
          <a:lstStyle/>
          <a:p>
            <a:pPr marL="0" indent="0" algn="just">
              <a:buNone/>
            </a:pP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ቀዳሚሁ </a:t>
            </a:r>
            <a:r>
              <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ቃል፡ ውእቱ ቃል፡ ቃለ እግዚኣብሔር፡ ውእቱ ቃል </a:t>
            </a: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ሥጋ </a:t>
            </a:r>
            <a:r>
              <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ኮነ </a:t>
            </a: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ወኀደረ </a:t>
            </a:r>
            <a:r>
              <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ላዕሌነ። ወርኢነ ስብሐቲሁ </a:t>
            </a: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ከመ ስብሐተ </a:t>
            </a:r>
            <a:r>
              <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ኣሓዱ ዋሕድ </a:t>
            </a: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ለአቡሁ</a:t>
            </a:r>
            <a:r>
              <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ቃለ አብ </a:t>
            </a:r>
            <a:r>
              <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ሕያው </a:t>
            </a: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ወቃል </a:t>
            </a:r>
            <a:r>
              <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ማሕየዊ፡ ቃለ እግዚኣብሔር </a:t>
            </a: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ተንሥአ ወሥጋሁኒ </a:t>
            </a:r>
            <a:r>
              <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ኢማሰነ።</a:t>
            </a:r>
          </a:p>
        </p:txBody>
      </p:sp>
      <p:sp>
        <p:nvSpPr>
          <p:cNvPr id="4" name="Content Placeholder 2"/>
          <p:cNvSpPr txBox="1">
            <a:spLocks/>
          </p:cNvSpPr>
          <p:nvPr/>
        </p:nvSpPr>
        <p:spPr>
          <a:xfrm>
            <a:off x="358335" y="175949"/>
            <a:ext cx="5719735" cy="751900"/>
          </a:xfrm>
          <a:prstGeom prst="rect">
            <a:avLst/>
          </a:prstGeom>
        </p:spPr>
        <p:txBody>
          <a:bodyPr vert="horz" lIns="91440" tIns="45720" rIns="91440" bIns="45720" rtlCol="0">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4400" b="1" spc="50" dirty="0" smtClean="0">
                <a:ln w="11430"/>
                <a:blipFill dpi="0" rotWithShape="1">
                  <a:blip r:embed="rId2">
                    <a:extLst>
                      <a:ext uri="{28A0092B-C50C-407E-A947-70E740481C1C}">
                        <a14:useLocalDpi xmlns:a14="http://schemas.microsoft.com/office/drawing/2010/main" val="0"/>
                      </a:ext>
                    </a:extLst>
                  </a:blip>
                  <a:srcRect/>
                  <a:stretch>
                    <a:fillRect/>
                  </a:stretch>
                </a:blipFill>
                <a:effectLst>
                  <a:outerShdw blurRad="76200" dist="50800" dir="5400000" algn="tl" rotWithShape="0">
                    <a:srgbClr val="000000">
                      <a:alpha val="65000"/>
                    </a:srgbClr>
                  </a:outerShdw>
                </a:effectLst>
              </a:rPr>
              <a:t>መእምድኅረ አንበበ ዮሓንስ</a:t>
            </a:r>
            <a:endParaRPr lang="en-US" sz="4400" b="1" spc="50" dirty="0">
              <a:ln w="11430"/>
              <a:blipFill dpi="0" rotWithShape="1">
                <a:blip r:embed="rId2">
                  <a:extLst>
                    <a:ext uri="{28A0092B-C50C-407E-A947-70E740481C1C}">
                      <a14:useLocalDpi xmlns:a14="http://schemas.microsoft.com/office/drawing/2010/main" val="0"/>
                    </a:ext>
                  </a:extLst>
                </a:blip>
                <a:srcRect/>
                <a:stretch>
                  <a:fillRect/>
                </a:stretch>
              </a:blip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115981861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5776" y="2019109"/>
            <a:ext cx="10515600" cy="1834434"/>
          </a:xfrm>
        </p:spPr>
        <p:txBody>
          <a:bodyPr>
            <a:noAutofit/>
            <a:scene3d>
              <a:camera prst="orthographicFront"/>
              <a:lightRig rig="flat" dir="tl">
                <a:rot lat="0" lon="0" rev="6600000"/>
              </a:lightRig>
            </a:scene3d>
            <a:sp3d extrusionH="25400" contourW="8890">
              <a:bevelT w="38100" h="31750" prst="softRound"/>
              <a:contourClr>
                <a:schemeClr val="accent2">
                  <a:shade val="75000"/>
                </a:schemeClr>
              </a:contourClr>
            </a:sp3d>
          </a:bodyPr>
          <a:lstStyle/>
          <a:p>
            <a:pPr algn="ctr"/>
            <a:r>
              <a:rPr lang="am-ET" sz="13800" b="1" dirty="0" smtClean="0">
                <a:ln w="11430"/>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5">
                      <a:satMod val="175000"/>
                      <a:alpha val="40000"/>
                    </a:schemeClr>
                  </a:glow>
                  <a:outerShdw blurRad="60007" dist="200025" dir="15000000" sy="30000" kx="-1800000" algn="bl" rotWithShape="0">
                    <a:prstClr val="black">
                      <a:alpha val="32000"/>
                    </a:prstClr>
                  </a:outerShdw>
                </a:effectLst>
              </a:rPr>
              <a:t>እምድ</a:t>
            </a:r>
            <a:r>
              <a:rPr lang="en-US" sz="13800" b="1" dirty="0">
                <a:ln w="11430"/>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5">
                      <a:satMod val="175000"/>
                      <a:alpha val="40000"/>
                    </a:schemeClr>
                  </a:glow>
                  <a:outerShdw blurRad="60007" dist="200025" dir="15000000" sy="30000" kx="-1800000" algn="bl" rotWithShape="0">
                    <a:prstClr val="black">
                      <a:alpha val="32000"/>
                    </a:prstClr>
                  </a:outerShdw>
                </a:effectLst>
              </a:rPr>
              <a:t>ኅ</a:t>
            </a:r>
            <a:r>
              <a:rPr lang="am-ET" sz="13800" b="1" dirty="0" smtClean="0">
                <a:ln w="11430"/>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5">
                      <a:satMod val="175000"/>
                      <a:alpha val="40000"/>
                    </a:schemeClr>
                  </a:glow>
                  <a:outerShdw blurRad="60007" dist="200025" dir="15000000" sy="30000" kx="-1800000" algn="bl" rotWithShape="0">
                    <a:prstClr val="black">
                      <a:alpha val="32000"/>
                    </a:prstClr>
                  </a:outerShdw>
                </a:effectLst>
              </a:rPr>
              <a:t>ረ ወንጌል</a:t>
            </a:r>
            <a:endParaRPr lang="en-US" sz="13800" b="1" dirty="0">
              <a:ln w="11430"/>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5">
                    <a:satMod val="175000"/>
                    <a:alpha val="40000"/>
                  </a:schemeClr>
                </a:glow>
                <a:outerShdw blurRad="60007" dist="200025" dir="15000000" sy="30000" kx="-1800000" algn="bl" rotWithShape="0">
                  <a:prstClr val="black">
                    <a:alpha val="32000"/>
                  </a:prstClr>
                </a:outerShdw>
              </a:effectLst>
            </a:endParaRPr>
          </a:p>
        </p:txBody>
      </p:sp>
    </p:spTree>
    <p:extLst>
      <p:ext uri="{BB962C8B-B14F-4D97-AF65-F5344CB8AC3E}">
        <p14:creationId xmlns:p14="http://schemas.microsoft.com/office/powerpoint/2010/main" val="411621552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581" y="496491"/>
            <a:ext cx="10972800" cy="5622086"/>
          </a:xfrm>
        </p:spPr>
        <p:txBody>
          <a:bodyPr>
            <a:noAutofit/>
          </a:bodyPr>
          <a:lstStyle/>
          <a:p>
            <a:pPr marL="0" indent="0">
              <a:buNone/>
            </a:pPr>
            <a:r>
              <a:rPr lang="en-US" sz="4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ተን</a:t>
            </a:r>
            <a:r>
              <a:rPr lang="en-US" sz="5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ሥ</a:t>
            </a:r>
            <a:r>
              <a:rPr lang="am-ET" sz="5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ኡ ለጸሎት . . . . . </a:t>
            </a:r>
          </a:p>
          <a:p>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እግዚኦ ተ</a:t>
            </a:r>
            <a:r>
              <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ሣሀ</a:t>
            </a:r>
            <a:r>
              <a:rPr lang="am-ET"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ለነ</a:t>
            </a:r>
          </a:p>
          <a:p>
            <a:pPr marL="0" indent="0">
              <a:buNone/>
            </a:pPr>
            <a:r>
              <a:rPr lang="en-US" sz="4800" dirty="0">
                <a:solidFill>
                  <a:schemeClr val="accent1">
                    <a:lumMod val="75000"/>
                  </a:schemeClr>
                </a:solidFill>
              </a:rPr>
              <a:t>  </a:t>
            </a:r>
            <a:r>
              <a:rPr lang="am-ET" sz="52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ሰላም </a:t>
            </a:r>
            <a:r>
              <a:rPr lang="am-ET" sz="52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ለኲልክሙ </a:t>
            </a:r>
            <a:endParaRPr lang="am-ET" sz="52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ምስለ መንፈስከ</a:t>
            </a:r>
            <a:endPar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buNone/>
            </a:pPr>
            <a:r>
              <a:rPr lang="en-US" sz="5200" dirty="0" smtClean="0">
                <a:ln>
                  <a:solidFill>
                    <a:schemeClr val="bg1"/>
                  </a:solidFill>
                </a:ln>
                <a:solidFill>
                  <a:srgbClr val="FF0000"/>
                </a:solidFill>
              </a:rPr>
              <a:t>  </a:t>
            </a:r>
            <a:r>
              <a:rPr lang="am-ET"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ጸልዩ በእንተ ሰላ</a:t>
            </a:r>
            <a:r>
              <a:rPr lang="en-US"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መ</a:t>
            </a:r>
            <a:r>
              <a:rPr lang="am-ET"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ቤተ ክርስትያን . . . . . </a:t>
            </a:r>
          </a:p>
          <a:p>
            <a:r>
              <a:rPr lang="en-US"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ኪርያላይሶን</a:t>
            </a:r>
          </a:p>
          <a:p>
            <a:pPr marL="0" indent="0">
              <a:buNone/>
            </a:pPr>
            <a:r>
              <a:rPr lang="am-ET" sz="5400" dirty="0" smtClean="0"/>
              <a:t> </a:t>
            </a:r>
          </a:p>
          <a:p>
            <a:pPr marL="0" indent="0">
              <a:buNone/>
            </a:pPr>
            <a:endParaRPr lang="en-US" sz="5400" dirty="0"/>
          </a:p>
        </p:txBody>
      </p:sp>
    </p:spTree>
    <p:extLst>
      <p:ext uri="{BB962C8B-B14F-4D97-AF65-F5344CB8AC3E}">
        <p14:creationId xmlns:p14="http://schemas.microsoft.com/office/powerpoint/2010/main" val="152965590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917" y="309281"/>
            <a:ext cx="10771094" cy="6494930"/>
          </a:xfrm>
        </p:spPr>
        <p:txBody>
          <a:bodyPr>
            <a:noAutofit/>
          </a:bodyPr>
          <a:lstStyle/>
          <a:p>
            <a:pPr marL="0" indent="0">
              <a:buNone/>
            </a:pPr>
            <a:r>
              <a:rPr lang="en-US" sz="4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5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ተን</a:t>
            </a:r>
            <a:r>
              <a:rPr lang="en-US" sz="5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ሥ</a:t>
            </a:r>
            <a:r>
              <a:rPr lang="am-ET" sz="5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ኡ ለጸሎት . . . . . </a:t>
            </a:r>
          </a:p>
          <a:p>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እግዚኦ ተ</a:t>
            </a:r>
            <a:r>
              <a:rPr lang="en-US" sz="6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ሣሀ</a:t>
            </a:r>
            <a:r>
              <a:rPr lang="am-ET" sz="6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ለነ</a:t>
            </a:r>
          </a:p>
          <a:p>
            <a:pPr marL="0" indent="0">
              <a:buNone/>
            </a:pPr>
            <a:r>
              <a:rPr lang="en-US" sz="4800" dirty="0">
                <a:solidFill>
                  <a:schemeClr val="accent1">
                    <a:lumMod val="75000"/>
                  </a:schemeClr>
                </a:solidFill>
              </a:rPr>
              <a:t>  </a:t>
            </a:r>
            <a:r>
              <a:rPr lang="en-US" sz="4800" dirty="0" smtClean="0">
                <a:solidFill>
                  <a:schemeClr val="accent1">
                    <a:lumMod val="75000"/>
                  </a:schemeClr>
                </a:solidFill>
              </a:rPr>
              <a:t> </a:t>
            </a:r>
            <a:r>
              <a:rPr lang="am-ET" sz="5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ሰላም ለኲልክሙ </a:t>
            </a:r>
            <a:endParaRPr lang="am-ET" sz="5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ምስለ መንፈስከ</a:t>
            </a:r>
            <a:endParaRPr lang="en-US" sz="6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buNone/>
            </a:pPr>
            <a:r>
              <a:rPr lang="en-US" sz="4800" dirty="0">
                <a:ln>
                  <a:solidFill>
                    <a:schemeClr val="bg1"/>
                  </a:solidFill>
                </a:ln>
                <a:solidFill>
                  <a:srgbClr val="FF0000"/>
                </a:solidFill>
              </a:rPr>
              <a:t>  </a:t>
            </a:r>
            <a:r>
              <a:rPr lang="en-US" sz="4800" dirty="0" smtClean="0">
                <a:ln>
                  <a:solidFill>
                    <a:schemeClr val="bg1"/>
                  </a:solidFill>
                </a:ln>
                <a:solidFill>
                  <a:srgbClr val="FF0000"/>
                </a:solidFill>
              </a:rPr>
              <a:t> </a:t>
            </a:r>
            <a:r>
              <a:rPr lang="am-ET" sz="5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ጸልዩ </a:t>
            </a:r>
            <a:r>
              <a:rPr lang="am-ET" sz="5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በእንተ </a:t>
            </a:r>
            <a:r>
              <a:rPr lang="en-US" sz="5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ዛቲ</a:t>
            </a:r>
            <a:r>
              <a:rPr lang="am-ET" sz="5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5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 . . </a:t>
            </a:r>
            <a:r>
              <a:rPr lang="am-ET" sz="5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a:t>
            </a:r>
            <a:endParaRPr lang="en-US" sz="5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r>
              <a:rPr lang="en-US"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ማ</a:t>
            </a:r>
            <a:r>
              <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ኅ</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a:t>
            </a:r>
            <a:r>
              <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ር</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ነ ባርክ ዕቀብ በሰላም</a:t>
            </a:r>
          </a:p>
          <a:p>
            <a:pPr marL="0" indent="0">
              <a:buNone/>
            </a:pPr>
            <a:r>
              <a:rPr lang="en-US" sz="4800" dirty="0" smtClean="0">
                <a:ln>
                  <a:solidFill>
                    <a:schemeClr val="bg1"/>
                  </a:solidFill>
                </a:ln>
                <a:solidFill>
                  <a:srgbClr val="FF0000"/>
                </a:solidFill>
              </a:rPr>
              <a:t>   </a:t>
            </a:r>
            <a:r>
              <a:rPr lang="am-ET" sz="5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ንበል ኩልነ በጥበበ እግዚኣብሔር . . . . .</a:t>
            </a:r>
          </a:p>
          <a:p>
            <a:pPr marL="0" indent="0">
              <a:buNone/>
            </a:pPr>
            <a:r>
              <a:rPr lang="am-ET" sz="5400" dirty="0" smtClean="0"/>
              <a:t> </a:t>
            </a:r>
          </a:p>
          <a:p>
            <a:pPr marL="0" indent="0">
              <a:buNone/>
            </a:pPr>
            <a:endParaRPr lang="en-US" sz="5400" dirty="0"/>
          </a:p>
        </p:txBody>
      </p:sp>
    </p:spTree>
    <p:extLst>
      <p:ext uri="{BB962C8B-B14F-4D97-AF65-F5344CB8AC3E}">
        <p14:creationId xmlns:p14="http://schemas.microsoft.com/office/powerpoint/2010/main" val="280778013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0" y="403413"/>
            <a:ext cx="12191999" cy="6373905"/>
          </a:xfrm>
        </p:spPr>
        <p:txBody>
          <a:bodyPr>
            <a:normAutofit fontScale="90000"/>
          </a:bodyPr>
          <a:lstStyle/>
          <a:p>
            <a:pPr algn="just" eaLnBrk="1" hangingPunct="1"/>
            <a:r>
              <a:rPr lang="en-US"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ሰማይን ምድርን፡ ዚርአን ዘይርአን ዝፈጠረ፡ ኩሉ ብዝሓዘ ብሓደ እግዚ</a:t>
            </a:r>
            <a:r>
              <a:rPr lang="en-US" sz="6800" b="1" u="sng" baseline="3000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ር</a:t>
            </a:r>
            <a:r>
              <a:rPr lang="en-US" sz="6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ኣብ ነኣምን።</a:t>
            </a:r>
            <a:br>
              <a:rPr lang="en-US" sz="6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br>
            <a:r>
              <a:rPr lang="en-US" sz="6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ዓለም ከይተፈጥረ ምስኡ ህልው ብዝኾነ ብሓደ ወዱ ንኣብ ብጎይታና ብኢየሱስ ክርስቶስ ነኣምን፡ ንሱ ብርሃን እንካብ ብርሃን፡ ኡነተይና ኣምላኽ፡ ካብ ኡነተይና ኣምላኽ፡ ዝተወልደ እምበር ዘይተፈጥረ፡ ብመለኮቱ ምስ ኣብ ትኽክል ዝኾነ፡ ኩሉ ብኣኡ ዝኾነ</a:t>
            </a:r>
            <a:endParaRPr lang="en-US" sz="6800" b="1" u="sng"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216886931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09185" y="268943"/>
            <a:ext cx="12010030" cy="637390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6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ብዘይ ብኣኡ ኣብ ሰማይ ኮነ ኣብ ምድሪ፡ ሓደ ነገር እኳ ዝኾነ ዘየልቦ። ምእንታና ምእንቲ ድኅነት ሰብ፡ እንካብ ሰማይ ዝወረደ፡ ብናይ መንፈስ ቅዱስ ስራሕ፡ እንካብ ቅድስቲ ድንግል ማርያም ሥጋ ለቢሱ ሰብ ኮነ።</a:t>
            </a:r>
            <a:endParaRPr lang="en-US" b="1" u="sng"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300268429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81889" y="268943"/>
            <a:ext cx="12078268" cy="637390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6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ብዘመን ጲላጦስ ጰንጤናዊ፡ ምእንታና ተሰቕለ፡ ተሣቐየ፡ ሞተ፡ ተቐብረ። ኣብ ቅዱሳት መጻሕፍቲ ከምዝተጻሕፈ እውን፡ ብሣልሳይ መዓልቲ ካብ ሞት ተንሥአ፡ ብኽብሪ ናብ ሰማይ ዓረገ፡ ኣብ የማን ኣቦኡ ተቐመጠ፡ እንደገና ሕያዋንን ምውታንን ኪፈርድ ብኽብሪ ኪመጽእ እዩ፡ መንግሥቱ መወዳእታ የብሉን።</a:t>
            </a:r>
          </a:p>
        </p:txBody>
      </p:sp>
    </p:spTree>
    <p:extLst>
      <p:ext uri="{BB962C8B-B14F-4D97-AF65-F5344CB8AC3E}">
        <p14:creationId xmlns:p14="http://schemas.microsoft.com/office/powerpoint/2010/main" val="163403437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268943"/>
            <a:ext cx="12191999" cy="637390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6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ካብ ኣብን ወልድን ብዝሠረጸ ብመድኃኒ ጎይታ፡ ብመንፈስ ቅዱስ ነኣምን፡ ብኣፍ ነብያት ንዝተናገረ፡ ነኣኡ’ውን ምስ ኣብን ምስ ወልድን ንሰግደሉን ነመስግኖን። ኣብ ኩሉ ቦታ እትርከብ ናይ ሓዋርያት ጉባኤ ብዝኾነት፡ ብሓንቲ ቅድስቲ ቤተ-ክርስትያን ነኣምን።</a:t>
            </a:r>
          </a:p>
        </p:txBody>
      </p:sp>
    </p:spTree>
    <p:extLst>
      <p:ext uri="{BB962C8B-B14F-4D97-AF65-F5344CB8AC3E}">
        <p14:creationId xmlns:p14="http://schemas.microsoft.com/office/powerpoint/2010/main" val="230414632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95536" y="268943"/>
            <a:ext cx="11928143" cy="637390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6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ንስርየት ኃጢኣት ብዝተሠርዐት፡ ብሓንቲ ጥምቀት ነኣምን። ብትንሣኤ ምውታንን፡ ብዚመጽእ ናይ ዘለዓለም ሕይወትን፡ ተስፋ ንገብር። ኣሜን።</a:t>
            </a:r>
          </a:p>
        </p:txBody>
      </p:sp>
    </p:spTree>
    <p:extLst>
      <p:ext uri="{BB962C8B-B14F-4D97-AF65-F5344CB8AC3E}">
        <p14:creationId xmlns:p14="http://schemas.microsoft.com/office/powerpoint/2010/main" val="421979476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1" y="391886"/>
            <a:ext cx="12191999" cy="6176427"/>
          </a:xfrm>
        </p:spPr>
        <p:txBody>
          <a:bodyPr>
            <a:normAutofit/>
          </a:bodyPr>
          <a:lstStyle/>
          <a:p>
            <a:pPr algn="just" eaLnBrk="1" hangingPunct="1"/>
            <a:r>
              <a:rPr lang="en-US"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7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ነኣምን</a:t>
            </a: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7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በአሐዱ ኣምላኽ፡ እግዚኣብሔር ኣብ፡ ኣኃዜ ኲሉ ዓለም፡ ገባሬ ሰማያት ወምድር ዘያስተርኢ ወዘኢያስተርኢ። ወነኣምን በአሐዱ እግዚእ ኢየሱስ ክርስቶስ፡ ወልድ ኣብ ዋሕድ፡ ዘህልው ምስሌሁ፡ እም ቅድመ ይትፈጠር ዓለም።</a:t>
            </a:r>
            <a:endParaRPr lang="en-US" sz="7200" b="1" u="sng"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154114195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0" y="457201"/>
            <a:ext cx="12191999" cy="5340404"/>
          </a:xfrm>
        </p:spPr>
        <p:txBody>
          <a:bodyPr>
            <a:normAutofit/>
          </a:bodyPr>
          <a:lstStyle/>
          <a:p>
            <a:pPr indent="274638" algn="just" eaLnBrk="1" hangingPunct="1"/>
            <a:r>
              <a:rPr lang="en-US" sz="7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ብርሃን ዘእምብርሃን፡ ኣምላክ ዘእም ኣምላክ ዘበአማን፡ ዘተወልደ ወኣኮ ዘተገብረ። ዘዕሩይ ምስለአብ በመለኮቱ፡ ዘቦቱ ኲሉ ኮነ ወዘእንበሌሁስ ኣልቦ ዘኮነ ወኢምንትኒ ዘበሰማይኒ ወዘበምድርኒ።</a:t>
            </a:r>
            <a:endParaRPr lang="en-US" sz="7200" b="1" u="sng"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295643000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1" y="391886"/>
            <a:ext cx="12191999" cy="6176427"/>
          </a:xfrm>
        </p:spPr>
        <p:txBody>
          <a:bodyPr>
            <a:normAutofit/>
          </a:bodyPr>
          <a:lstStyle/>
          <a:p>
            <a:pPr algn="just" eaLnBrk="1" hangingPunct="1"/>
            <a:r>
              <a:rPr lang="en-US"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7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ዘበእንቲኣነ ለሰብእ ወበእንተ መድኀኒትነ ወረደ እምሰማያት፡ ወተሰብኣ ወተሠገወ እመንፈስ ቅዱስ እማርያም እምቅድስት ድንግል ኮነ ብእሴ። ወተሰቅለ በእንቲኣነ በመዋዕለ ጲላጦስ ጰንጤናዊ፡ ሓመ ወሞተ ወተቀብረ።</a:t>
            </a:r>
            <a:endParaRPr lang="en-US" sz="7200" b="1" u="sng"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295643000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1" y="391886"/>
            <a:ext cx="12191999" cy="6176427"/>
          </a:xfrm>
        </p:spPr>
        <p:txBody>
          <a:bodyPr>
            <a:normAutofit/>
          </a:bodyPr>
          <a:lstStyle/>
          <a:p>
            <a:pPr algn="just" eaLnBrk="1" hangingPunct="1"/>
            <a:r>
              <a:rPr lang="en-US" sz="7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ወተንሥአ እሙታን አመ ሣልስት ዕለት፡ በከመ ጽሑፍ ውስተ ቅድሳት መጻሕፍት። ወዐርገ በስብሐት ውስተ ሰማያት፡ ወነበረ በየማነ አቡሁ፡ ዳግመ ይመጽእ በስብሐት ይኰንን ሕያዋነ ወሙታነ፡ ወኣልቦ ማኅለቅት ለመንግሥቱ።</a:t>
            </a:r>
            <a:endParaRPr lang="en-US" sz="7200" b="1" u="sng"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295643000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1" y="13059"/>
            <a:ext cx="12191999" cy="4399879"/>
          </a:xfrm>
        </p:spPr>
        <p:txBody>
          <a:bodyPr>
            <a:normAutofit/>
          </a:bodyPr>
          <a:lstStyle/>
          <a:p>
            <a:pPr algn="just"/>
            <a:r>
              <a:rPr lang="en-US" sz="7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ወነኣምን በመንፈስ ቅዱስ እግዚእ መሕየዊ</a:t>
            </a:r>
            <a:r>
              <a:rPr lang="en-US" sz="7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7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ዘሠረጸ እምኣብ ወወልድ፡ ንስግድ ሎቱ ወንሰብሖ ምስለ ኣብ ወወልድ ዘነበበ</a:t>
            </a:r>
            <a:r>
              <a:rPr lang="en-US" sz="7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r>
            <a:br>
              <a:rPr lang="en-US" sz="7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br>
            <a:r>
              <a:rPr lang="en-US" sz="7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በነቢያት።</a:t>
            </a:r>
            <a:endParaRPr lang="en-US" sz="7200" b="1" u="sng"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
        <p:nvSpPr>
          <p:cNvPr id="3" name="Title 1"/>
          <p:cNvSpPr txBox="1">
            <a:spLocks/>
          </p:cNvSpPr>
          <p:nvPr/>
        </p:nvSpPr>
        <p:spPr>
          <a:xfrm>
            <a:off x="1" y="4258491"/>
            <a:ext cx="12191999" cy="22445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7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ወነኣምን በአሐቲ ቅድስቲ ቤተ ክርስትያን፡ እንተ ላዕለ ኲሉ ጉባዔ ዘሐዋርያት።</a:t>
            </a:r>
            <a:endParaRPr lang="en-US" sz="7200" b="1" u="sng"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295643000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0" y="522514"/>
            <a:ext cx="12191999" cy="4582759"/>
          </a:xfrm>
        </p:spPr>
        <p:txBody>
          <a:bodyPr>
            <a:normAutofit/>
          </a:bodyPr>
          <a:lstStyle/>
          <a:p>
            <a:pPr algn="just" eaLnBrk="1" hangingPunct="1"/>
            <a:r>
              <a:rPr lang="en-US" sz="7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ወነኣምን በአሐቲ ጥምቀት ለሥርየተ ኀጢኣት። ወንሴፎ ትንሳኤ ሙታን፡ ወሕይወተ ዘይመጽእ ለዓለመ ዓለም ኣሜን።</a:t>
            </a:r>
            <a:endParaRPr lang="en-US" sz="7200" b="1" u="sng"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397767309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7239" y="963207"/>
            <a:ext cx="9493956" cy="4676256"/>
          </a:xfrm>
        </p:spPr>
        <p:txBody>
          <a:bodyPr>
            <a:normAutofit/>
          </a:bodyPr>
          <a:lstStyle/>
          <a:p>
            <a:pPr marL="0" indent="0">
              <a:buNone/>
            </a:pPr>
            <a:r>
              <a:rPr lang="en-U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5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ተን</a:t>
            </a:r>
            <a:r>
              <a:rPr lang="en-US" sz="5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ሥ</a:t>
            </a:r>
            <a:r>
              <a:rPr lang="am-ET" sz="5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ኡ ለጸሎት . . . . . </a:t>
            </a:r>
          </a:p>
          <a:p>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7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እግዚኦ ተ</a:t>
            </a:r>
            <a:r>
              <a:rPr lang="en-US" sz="67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ሣሀ</a:t>
            </a:r>
            <a:r>
              <a:rPr lang="am-ET" sz="67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ለነ</a:t>
            </a:r>
          </a:p>
          <a:p>
            <a:pPr marL="0" indent="0">
              <a:buNone/>
            </a:pPr>
            <a:r>
              <a:rPr lang="en-US" sz="4400" dirty="0">
                <a:solidFill>
                  <a:schemeClr val="accent1">
                    <a:lumMod val="75000"/>
                  </a:schemeClr>
                </a:solidFill>
              </a:rPr>
              <a:t>  </a:t>
            </a:r>
            <a:r>
              <a:rPr lang="en-US"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5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ሰላም ለኲልክሙ </a:t>
            </a:r>
            <a:endParaRPr lang="am-ET" sz="5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7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ምስለ </a:t>
            </a:r>
            <a:r>
              <a:rPr lang="am-ET" sz="6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መንፈስከ</a:t>
            </a:r>
            <a:endParaRPr lang="en-US" sz="67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101070838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63069"/>
            <a:ext cx="12192000" cy="6131859"/>
          </a:xfrm>
        </p:spPr>
        <p:txBody>
          <a:bodyPr>
            <a:normAutofit/>
          </a:bodyPr>
          <a:lstStyle/>
          <a:p>
            <a:pPr marL="0" indent="0">
              <a:buNone/>
            </a:pP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እግዚኣብሔር ዐቢይ. . . . . . </a:t>
            </a:r>
            <a:endParaRPr lang="am-ET" sz="48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ስብሓት ለእግዚኣብሔር በሰማያት ወሰላም በምድር</a:t>
            </a:r>
            <a:r>
              <a:rPr lang="en-US" sz="6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r>
              <a:rPr lang="am-ET" sz="6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a:t>
            </a:r>
            <a:r>
              <a:rPr lang="am-ET" sz="6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ምረቱ ለሰብእ</a:t>
            </a:r>
            <a:r>
              <a:rPr lang="en-US" sz="6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endParaRPr lang="am-ET" sz="6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buNone/>
            </a:pPr>
            <a:r>
              <a:rPr lang="en-US" sz="4800" dirty="0" smtClean="0">
                <a:solidFill>
                  <a:srgbClr val="FF0000"/>
                </a:solidFill>
              </a:rPr>
              <a:t>   </a:t>
            </a:r>
            <a:r>
              <a:rPr lang="en-US" sz="4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ጸልዩ በእንተ ሰላም ፍጽምት . . . . . </a:t>
            </a:r>
            <a:endParaRPr lang="am-ET" sz="5400" dirty="0" smtClean="0">
              <a:solidFill>
                <a:srgbClr val="FF0000"/>
              </a:solidFill>
            </a:endParaRPr>
          </a:p>
          <a:p>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ክርስቶስ ኣምላክነ ረስየነ ድልዋ</a:t>
            </a:r>
            <a:r>
              <a:rPr lang="en-US" sz="7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ነ</a:t>
            </a:r>
            <a:r>
              <a:rPr lang="am-ET"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ከመ ንትኣማ</a:t>
            </a:r>
            <a:r>
              <a:rPr lang="en-US"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ኅ</a:t>
            </a:r>
            <a:r>
              <a:rPr lang="am-ET"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በበይናቲነ በ</a:t>
            </a:r>
            <a:r>
              <a:rPr lang="en-US"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a:t>
            </a:r>
            <a:r>
              <a:rPr lang="en-US"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ኀ</a:t>
            </a:r>
            <a:r>
              <a:rPr lang="am-ET"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ቅ</a:t>
            </a:r>
            <a:r>
              <a:rPr lang="en-US"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ድ</a:t>
            </a:r>
            <a:r>
              <a:rPr lang="am-ET"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ሳ</a:t>
            </a:r>
            <a:r>
              <a:rPr lang="en-US"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ት</a:t>
            </a:r>
            <a:r>
              <a:rPr lang="am-ET" sz="7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endParaRPr lang="en-US" sz="7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334069170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945776" y="2019109"/>
            <a:ext cx="10515600" cy="1325563"/>
          </a:xfrm>
          <a:prstGeom prst="rect">
            <a:avLst/>
          </a:prstGeom>
        </p:spPr>
        <p:txBody>
          <a:bodyPr vert="horz" lIns="91440" tIns="45720" rIns="91440" bIns="45720" rtlCol="0" anchor="ctr">
            <a:noAutofit/>
            <a:scene3d>
              <a:camera prst="orthographicFront"/>
              <a:lightRig rig="flat" dir="tl">
                <a:rot lat="0" lon="0" rev="6600000"/>
              </a:lightRig>
            </a:scene3d>
            <a:sp3d extrusionH="25400" contourW="8890">
              <a:bevelT w="38100" h="31750" prst="softRound"/>
              <a:contourClr>
                <a:schemeClr val="accent2">
                  <a:shade val="75000"/>
                </a:schemeClr>
              </a:contourClr>
            </a:sp3d>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3800" b="1" dirty="0" smtClean="0">
                <a:ln w="11430"/>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5">
                      <a:satMod val="175000"/>
                      <a:alpha val="40000"/>
                    </a:schemeClr>
                  </a:glow>
                  <a:outerShdw blurRad="60007" dist="200025" dir="15000000" sy="30000" kx="-1800000" algn="bl" rotWithShape="0">
                    <a:prstClr val="black">
                      <a:alpha val="32000"/>
                    </a:prstClr>
                  </a:outerShdw>
                </a:effectLst>
              </a:rPr>
              <a:t>ኣኰቴተ ቊርባን</a:t>
            </a:r>
            <a:endParaRPr lang="en-US" sz="13800" b="1" dirty="0">
              <a:ln w="11430"/>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5">
                    <a:satMod val="175000"/>
                    <a:alpha val="40000"/>
                  </a:schemeClr>
                </a:glow>
                <a:outerShdw blurRad="60007" dist="200025" dir="15000000" sy="30000" kx="-1800000" algn="bl" rotWithShape="0">
                  <a:prstClr val="black">
                    <a:alpha val="32000"/>
                  </a:prstClr>
                </a:outerShdw>
              </a:effectLst>
            </a:endParaRPr>
          </a:p>
        </p:txBody>
      </p:sp>
    </p:spTree>
    <p:extLst>
      <p:ext uri="{BB962C8B-B14F-4D97-AF65-F5344CB8AC3E}">
        <p14:creationId xmlns:p14="http://schemas.microsoft.com/office/powerpoint/2010/main" val="248317164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470" y="188258"/>
            <a:ext cx="10676965" cy="6320118"/>
          </a:xfrm>
        </p:spPr>
        <p:txBody>
          <a:bodyPr>
            <a:normAutofit/>
          </a:bodyPr>
          <a:lstStyle/>
          <a:p>
            <a:pPr marL="0" indent="0">
              <a:buNone/>
            </a:pPr>
            <a:r>
              <a:rPr lang="en-US" sz="4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እግዚኣብሔር ምስለ </a:t>
            </a: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ኲ</a:t>
            </a:r>
            <a:r>
              <a:rPr lang="am-ET"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ልክሙ</a:t>
            </a:r>
          </a:p>
          <a:p>
            <a:r>
              <a:rPr lang="en-US"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ምስለ መንፈስከ </a:t>
            </a:r>
          </a:p>
          <a:p>
            <a:pPr marL="0" indent="0">
              <a:buNone/>
            </a:pP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ኣእ</a:t>
            </a: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ኲ</a:t>
            </a:r>
            <a:r>
              <a:rPr lang="am-ET"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ትዎ ለኣምላክነ</a:t>
            </a:r>
          </a:p>
          <a:p>
            <a:r>
              <a:rPr lang="en-US"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ርቱዕ ይደሉ</a:t>
            </a:r>
          </a:p>
          <a:p>
            <a:pPr marL="0" indent="0">
              <a:buNone/>
            </a:pPr>
            <a:r>
              <a:rPr lang="en-US" sz="4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ኣልዕሉ ኣልባቢክሙ</a:t>
            </a:r>
            <a:endParaRPr lang="am-ET" sz="4800" b="1" dirty="0" smtClean="0">
              <a:ln w="10541" cmpd="sng">
                <a:solidFill>
                  <a:schemeClr val="accent1">
                    <a:shade val="88000"/>
                    <a:satMod val="110000"/>
                  </a:schemeClr>
                </a:solidFill>
                <a:prstDash val="solid"/>
              </a:ln>
              <a:blipFill>
                <a:blip r:embed="rId2"/>
                <a:tile tx="0" ty="0" sx="100000" sy="100000" flip="none" algn="tl"/>
              </a:blipFill>
            </a:endParaRPr>
          </a:p>
          <a:p>
            <a:r>
              <a:rPr lang="en-US"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ብ</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ነ </a:t>
            </a:r>
            <a:r>
              <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ኀ</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 እግዚኣብሔር ኣምላክነ</a:t>
            </a:r>
          </a:p>
          <a:p>
            <a:pPr marL="0" indent="0">
              <a:buNone/>
            </a:pPr>
            <a:r>
              <a:rPr lang="en-US" sz="4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4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በእንተ ብጹዕ ወቅዱስ </a:t>
            </a:r>
            <a:r>
              <a:rPr lang="am-ET" sz="5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 . . . . . . . .</a:t>
            </a:r>
          </a:p>
          <a:p>
            <a:pPr marL="0" indent="0">
              <a:buNone/>
            </a:pPr>
            <a:endParaRPr lang="am-ET" sz="5400" dirty="0" smtClean="0"/>
          </a:p>
          <a:p>
            <a:pPr marL="0" indent="0">
              <a:buNone/>
            </a:pPr>
            <a:endParaRPr lang="en-US" sz="5400" dirty="0"/>
          </a:p>
        </p:txBody>
      </p:sp>
    </p:spTree>
    <p:extLst>
      <p:ext uri="{BB962C8B-B14F-4D97-AF65-F5344CB8AC3E}">
        <p14:creationId xmlns:p14="http://schemas.microsoft.com/office/powerpoint/2010/main" val="136514787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7917"/>
            <a:ext cx="12192000" cy="6602506"/>
          </a:xfrm>
        </p:spPr>
        <p:txBody>
          <a:bodyPr>
            <a:noAutofit/>
          </a:bodyPr>
          <a:lstStyle/>
          <a:p>
            <a:pPr marL="0" indent="0" algn="just">
              <a:buNone/>
            </a:pPr>
            <a:r>
              <a:rPr lang="en-US" sz="5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52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ለእሉኒ ወለኲሎሙ . . . . . . </a:t>
            </a:r>
          </a:p>
          <a:p>
            <a:pPr marL="0" indent="0" algn="just">
              <a:buNone/>
            </a:pPr>
            <a:r>
              <a:rPr lang="en-US"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እለ ትነብሩ ተን</a:t>
            </a:r>
            <a:r>
              <a:rPr lang="en-US"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ሥ</a:t>
            </a:r>
            <a:r>
              <a:rPr lang="am-ET"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ኡ</a:t>
            </a:r>
            <a:endParaRPr lang="en-US"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marL="0" indent="0" algn="just">
              <a:buNone/>
            </a:pPr>
            <a:r>
              <a:rPr lang="en-US" sz="5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52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ሥጋ ኮነ </a:t>
            </a:r>
            <a:r>
              <a:rPr lang="en-US" sz="52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 </a:t>
            </a:r>
            <a:endParaRPr lang="am-ET"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marL="0" indent="0" algn="just">
              <a:buNone/>
            </a:pPr>
            <a:r>
              <a:rPr lang="en-US"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ውስተ ጽባሕ ነጽሩ</a:t>
            </a:r>
            <a:endParaRPr lang="en-US"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marL="0" indent="0" algn="just">
              <a:buNone/>
            </a:pPr>
            <a:r>
              <a:rPr lang="en-US"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52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ለከ ለዘ </a:t>
            </a:r>
            <a:r>
              <a:rPr lang="en-US" sz="52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 </a:t>
            </a:r>
            <a:endParaRPr lang="am-ET"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marL="0" indent="0" algn="just">
              <a:buNone/>
            </a:pPr>
            <a:r>
              <a:rPr lang="en-US"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ንነጽር</a:t>
            </a:r>
            <a:endParaRPr lang="en-US"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marL="0" indent="0" algn="just">
              <a:buNone/>
            </a:pPr>
            <a:r>
              <a:rPr lang="en-US" sz="5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52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ክቡራን </a:t>
            </a:r>
            <a:r>
              <a:rPr lang="en-US" sz="52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 </a:t>
            </a:r>
            <a:endParaRPr lang="am-ET"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marL="0" indent="0" algn="just">
              <a:buNone/>
            </a:pPr>
            <a:r>
              <a:rPr lang="en-US"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ኣው</a:t>
            </a:r>
            <a:r>
              <a:rPr lang="en-US"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ሥ</a:t>
            </a:r>
            <a:r>
              <a:rPr lang="am-ET"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ኡ።</a:t>
            </a:r>
            <a:endParaRPr lang="en-US" sz="52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Tree>
    <p:extLst>
      <p:ext uri="{BB962C8B-B14F-4D97-AF65-F5344CB8AC3E}">
        <p14:creationId xmlns:p14="http://schemas.microsoft.com/office/powerpoint/2010/main" val="355120083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15151"/>
            <a:ext cx="12192000" cy="6710083"/>
          </a:xfrm>
        </p:spPr>
        <p:txBody>
          <a:bodyPr>
            <a:normAutofit/>
          </a:bodyPr>
          <a:lstStyle/>
          <a:p>
            <a:pPr marL="273050" indent="-273050" algn="just"/>
            <a:r>
              <a:rPr lang="en-GB" sz="5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ቅዱስ ቅዱስ ቅዱስ እግዚኣብሔር ጸባዖት ፍጹም፡ ምሉእ ሰማያ</a:t>
            </a:r>
            <a:r>
              <a:rPr lang="en-US" sz="6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ተ</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ወምድረ ቅድሳተ ስብ</a:t>
            </a:r>
            <a:r>
              <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ሐ</a:t>
            </a:r>
            <a:r>
              <a:rPr lang="am-ET"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ቲከ።</a:t>
            </a:r>
            <a:endParaRPr lang="en-US" sz="6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endParaRPr lang="am-ET" sz="1400" b="1" dirty="0" smtClean="0">
              <a:ln w="10160">
                <a:solidFill>
                  <a:schemeClr val="bg1"/>
                </a:solidFill>
                <a:prstDash val="solid"/>
              </a:ln>
              <a:solidFill>
                <a:srgbClr val="FFFFFF"/>
              </a:solidFill>
              <a:effectLst>
                <a:glow rad="101600">
                  <a:srgbClr val="000000">
                    <a:alpha val="60000"/>
                  </a:srgbClr>
                </a:glow>
                <a:outerShdw blurRad="38100" dist="22860" dir="5400000" algn="tl" rotWithShape="0">
                  <a:srgbClr val="000000">
                    <a:alpha val="30000"/>
                  </a:srgbClr>
                </a:outerShdw>
              </a:effectLst>
            </a:endParaRPr>
          </a:p>
          <a:p>
            <a:pPr marL="273050" indent="-273050" algn="just"/>
            <a:r>
              <a:rPr lang="en-GB" sz="5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ተዘከረነ እግዚኦ በውስተ መንግ</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ትከ: ተዘከረነ እግዚኦ ኦሊቅነ: ተዘከረነ እግዚኦ በውስተ መንግ</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ትከ: በከመ ተዘከርኮ ለፈያታዊ ዘየማን እንዘ ሀሎከ ዲበ ዕ</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ፀ</a:t>
            </a:r>
            <a:r>
              <a:rPr lang="am-ET"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መስቀል ቅዱስ።</a:t>
            </a:r>
          </a:p>
        </p:txBody>
      </p:sp>
    </p:spTree>
    <p:extLst>
      <p:ext uri="{BB962C8B-B14F-4D97-AF65-F5344CB8AC3E}">
        <p14:creationId xmlns:p14="http://schemas.microsoft.com/office/powerpoint/2010/main" val="191328740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47" y="147917"/>
            <a:ext cx="12192000" cy="6615953"/>
          </a:xfrm>
        </p:spPr>
        <p:txBody>
          <a:bodyPr>
            <a:normAutofit/>
          </a:bodyPr>
          <a:lstStyle/>
          <a:p>
            <a:pPr marL="0" indent="0">
              <a:buNone/>
            </a:pPr>
            <a:r>
              <a:rPr lang="en-US" sz="4000" dirty="0" smtClean="0">
                <a:ln>
                  <a:solidFill>
                    <a:schemeClr val="bg1"/>
                  </a:solidFill>
                </a:ln>
                <a:solidFill>
                  <a:srgbClr val="FF0000"/>
                </a:solidFill>
                <a:effectLst>
                  <a:glow rad="101600">
                    <a:schemeClr val="bg1">
                      <a:alpha val="60000"/>
                    </a:schemeClr>
                  </a:glow>
                </a:effectLst>
              </a:rPr>
              <a:t>  </a:t>
            </a: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ኣንሥኡ  እደዊክሙ  ቀሳውስት</a:t>
            </a:r>
          </a:p>
          <a:p>
            <a:pPr marL="0" indent="0">
              <a:buNone/>
            </a:pPr>
            <a:r>
              <a:rPr lang="en-GB" sz="5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ነኣምን: ከመ ዝንቱ ውእቱ በ</a:t>
            </a:r>
            <a:r>
              <a:rPr lang="en-US" sz="53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5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ማን ነ</a:t>
            </a:r>
            <a:r>
              <a:rPr lang="en-US" sz="5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5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ምን።</a:t>
            </a:r>
          </a:p>
          <a:p>
            <a:pPr algn="just"/>
            <a:r>
              <a:rPr lang="en-US" sz="5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ኣሜን ኣሜን ኣሜን: ነ</a:t>
            </a:r>
            <a:r>
              <a:rPr lang="en-US" sz="5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a:t>
            </a:r>
            <a:r>
              <a:rPr lang="am-ET"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ምን ወንትኣ</a:t>
            </a:r>
            <a:r>
              <a:rPr lang="en-US"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a:t>
            </a:r>
            <a:r>
              <a:rPr lang="am-ET"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ን: ንሴብ</a:t>
            </a:r>
            <a:r>
              <a:rPr lang="en-US" sz="5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ሐ</a:t>
            </a:r>
            <a:r>
              <a:rPr lang="am-ET"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ከ ኦእግዚእነ ወ</a:t>
            </a:r>
            <a:r>
              <a:rPr lang="en-US"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ምላክነ: ከመ ዝንቱ ውእቱ በ</a:t>
            </a:r>
            <a:r>
              <a:rPr lang="en-US"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ማን </a:t>
            </a:r>
            <a:r>
              <a:rPr lang="en-US"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a:t>
            </a:r>
            <a:r>
              <a:rPr lang="am-ET"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ጋከ ነኣምን።</a:t>
            </a:r>
          </a:p>
          <a:p>
            <a:pPr algn="just"/>
            <a:r>
              <a:rPr lang="en-US"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ኣሜን ኣሜን ኣሜን: ነ</a:t>
            </a:r>
            <a:r>
              <a:rPr lang="en-US" sz="5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a:t>
            </a:r>
            <a:r>
              <a:rPr lang="am-ET" sz="5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ምን ወንትኣ</a:t>
            </a:r>
            <a:r>
              <a:rPr lang="en-US" sz="5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a:t>
            </a:r>
            <a:r>
              <a:rPr lang="am-ET" sz="5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ን: ንሴብ</a:t>
            </a:r>
            <a:r>
              <a:rPr lang="en-US" sz="5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ሐ</a:t>
            </a:r>
            <a:r>
              <a:rPr lang="am-ET" sz="5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ከ ኦእግዚእነ ወ</a:t>
            </a:r>
            <a:r>
              <a:rPr lang="en-US" sz="5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5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ምላክነ: ከመ ዝንቱ ውእቱ በ</a:t>
            </a:r>
            <a:r>
              <a:rPr lang="en-US" sz="5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ማን</a:t>
            </a:r>
            <a:r>
              <a:rPr lang="en-US"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ደ</a:t>
            </a:r>
            <a:r>
              <a:rPr lang="en-US"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a:t>
            </a:r>
            <a:r>
              <a:rPr lang="am-ET"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ከ ነኣምን።</a:t>
            </a:r>
            <a:endParaRPr lang="en-US" sz="5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224911269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01706"/>
            <a:ext cx="12192000" cy="6508376"/>
          </a:xfrm>
        </p:spPr>
        <p:txBody>
          <a:bodyPr>
            <a:normAutofit/>
          </a:bodyPr>
          <a:lstStyle/>
          <a:p>
            <a:pPr algn="just"/>
            <a:r>
              <a:rPr lang="en-US" sz="5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ንዜኑ ሞተከ እግዚኦ ወትን</a:t>
            </a:r>
            <a:r>
              <a:rPr lang="en-US" sz="55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ሣ</a:t>
            </a:r>
            <a:r>
              <a:rPr lang="am-ET"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ኤከ ቅድስተ: ነ</a:t>
            </a:r>
            <a:r>
              <a:rPr lang="en-US"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ምን ዕርገ</a:t>
            </a:r>
            <a:r>
              <a:rPr lang="en-US"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ተ</a:t>
            </a:r>
            <a:r>
              <a:rPr lang="am-ET"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ከ ወዳግመ ምጽኣተከ: ንሴብ</a:t>
            </a:r>
            <a:r>
              <a:rPr lang="en-US"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ሐ</a:t>
            </a:r>
            <a:r>
              <a:rPr lang="am-ET"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ከ ወንትኣ</a:t>
            </a:r>
            <a:r>
              <a:rPr lang="en-US"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a:t>
            </a:r>
            <a:r>
              <a:rPr lang="am-ET"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ነከ: ንስእለከ ወናስተበ</a:t>
            </a:r>
            <a:r>
              <a:rPr lang="en-US"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ቊ</a:t>
            </a:r>
            <a:r>
              <a:rPr lang="am-ET"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ዐከ</a:t>
            </a:r>
            <a:r>
              <a:rPr lang="en-US"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r>
              <a:rPr lang="am-ET"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ኦእግዚእነ ወኣምላክነ።</a:t>
            </a:r>
          </a:p>
          <a:p>
            <a:pPr marL="0" indent="0" algn="just">
              <a:buNone/>
            </a:pPr>
            <a:r>
              <a:rPr lang="en-US" sz="43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43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ይእዜኒ እግዚኦ</a:t>
            </a:r>
            <a:r>
              <a:rPr lang="am-ET"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 . . .</a:t>
            </a:r>
          </a:p>
          <a:p>
            <a:pPr algn="just"/>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ኣሜን: እግዚኦ መ</a:t>
            </a:r>
            <a:r>
              <a:rPr lang="en-US" sz="5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ሐ</a:t>
            </a:r>
            <a:r>
              <a:rPr lang="am-ET" sz="5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ረነ: እግዚኦ መሃከነ: እግዚኦ ተ</a:t>
            </a:r>
            <a:r>
              <a:rPr lang="en-US" sz="5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a:t>
            </a:r>
            <a:r>
              <a:rPr lang="am-ET" sz="5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ሃለ</a:t>
            </a:r>
            <a:r>
              <a:rPr lang="en-US" sz="5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ነ</a:t>
            </a:r>
            <a:endParaRPr lang="am-ET" sz="5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r>
              <a:rPr lang="en-US" sz="43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43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በ</a:t>
            </a:r>
            <a:r>
              <a:rPr lang="en-US" sz="43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ኲ</a:t>
            </a:r>
            <a:r>
              <a:rPr lang="am-ET" sz="43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ሉ ልብ ናስተበ</a:t>
            </a:r>
            <a:r>
              <a:rPr lang="en-US" sz="43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ቊ</a:t>
            </a:r>
            <a:r>
              <a:rPr lang="am-ET" sz="43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ዖ </a:t>
            </a:r>
            <a:r>
              <a:rPr lang="am-ET"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 . . . . . .</a:t>
            </a:r>
          </a:p>
          <a:p>
            <a:pPr algn="just"/>
            <a:r>
              <a:rPr lang="en-US" sz="5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በከመ ሀሎ ህልወ ወይሄሉ ለትውልደ ትውልድ ለዓለም ዓለም።</a:t>
            </a:r>
          </a:p>
        </p:txBody>
      </p:sp>
    </p:spTree>
    <p:extLst>
      <p:ext uri="{BB962C8B-B14F-4D97-AF65-F5344CB8AC3E}">
        <p14:creationId xmlns:p14="http://schemas.microsoft.com/office/powerpoint/2010/main" val="110264821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2046" y="188258"/>
            <a:ext cx="11949954" cy="6521824"/>
          </a:xfrm>
        </p:spPr>
        <p:txBody>
          <a:bodyPr>
            <a:normAutofit fontScale="92500"/>
          </a:bodyPr>
          <a:lstStyle/>
          <a:p>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ሀበነ ን</a:t>
            </a:r>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ኅ</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በር በዘዚ</a:t>
            </a:r>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አ</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ከ መንፈስ ቅዱስ: </a:t>
            </a:r>
          </a:p>
          <a:p>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 </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ወፈውሰነ በዝንቱ ጵርስፎራ</a:t>
            </a:r>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a:t>
            </a:r>
            <a:endPar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endParaRPr>
          </a:p>
          <a:p>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 </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ከመ ብከ ንሕየው</a:t>
            </a:r>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 ዘለ</a:t>
            </a:r>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ኲ</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ሉ ዓለም: ወለዓለ</a:t>
            </a:r>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መ</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 ዓለም:</a:t>
            </a:r>
          </a:p>
          <a:p>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 ቡ</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ሩክ ስሙ ለእግዚኣብሔር: </a:t>
            </a:r>
          </a:p>
          <a:p>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 </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ወ</a:t>
            </a:r>
            <a:r>
              <a:rPr lang="en-US" sz="5400" b="1" dirty="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ቡ</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ሩክ ዘይመጽእ በስመ እግዚኣብሔር</a:t>
            </a:r>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a:t>
            </a:r>
            <a:endPar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endParaRPr>
          </a:p>
          <a:p>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 </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ወይትባረክ ስመ ስብ</a:t>
            </a:r>
            <a:r>
              <a:rPr lang="en-US" sz="5400" b="1" dirty="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ሐ</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ቲሁ: ለይኩን</a:t>
            </a:r>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 ለይኩን: </a:t>
            </a:r>
          </a:p>
          <a:p>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 ቡ</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ሩከ ለይኩን</a:t>
            </a:r>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a:t>
            </a:r>
            <a:endPar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endParaRPr>
          </a:p>
          <a:p>
            <a:r>
              <a:rPr lang="en-US"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 </a:t>
            </a:r>
            <a:r>
              <a:rPr lang="am-ET" sz="54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ፈኑ ጸጋ መንፈስ ቅዱስ ላዕሌነ።</a:t>
            </a:r>
            <a:r>
              <a:rPr lang="am-ET"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endPar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307254196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312" y="663325"/>
            <a:ext cx="11163869" cy="5862918"/>
          </a:xfrm>
        </p:spPr>
        <p:txBody>
          <a:bodyPr>
            <a:normAutofit/>
          </a:bodyPr>
          <a:lstStyle/>
          <a:p>
            <a:pPr marL="0" indent="0" algn="just">
              <a:buNone/>
            </a:pPr>
            <a:r>
              <a:rPr lang="en-U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5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ተን</a:t>
            </a:r>
            <a:r>
              <a:rPr lang="en-US"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ሥ</a:t>
            </a:r>
            <a:r>
              <a:rPr lang="am-ET"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ኡ ለጸሎት . . . . . </a:t>
            </a:r>
          </a:p>
          <a:p>
            <a:pPr algn="just"/>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እግዚኦ ተ</a:t>
            </a:r>
            <a:r>
              <a:rPr lang="en-US"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ሣሀ</a:t>
            </a:r>
            <a:r>
              <a:rPr lang="am-ET"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ለነ</a:t>
            </a:r>
          </a:p>
          <a:p>
            <a:pPr marL="0" indent="0" algn="just">
              <a:buNone/>
            </a:pPr>
            <a:r>
              <a:rPr lang="en-US" sz="5400" dirty="0">
                <a:solidFill>
                  <a:schemeClr val="accent1">
                    <a:lumMod val="75000"/>
                  </a:schemeClr>
                </a:solidFill>
              </a:rPr>
              <a:t>  </a:t>
            </a:r>
            <a:r>
              <a:rPr lang="en-US" sz="5400" dirty="0" smtClean="0">
                <a:solidFill>
                  <a:schemeClr val="accent1">
                    <a:lumMod val="75000"/>
                  </a:schemeClr>
                </a:solidFill>
              </a:rPr>
              <a:t> </a:t>
            </a:r>
            <a:r>
              <a:rPr lang="am-ET" sz="5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ሰላም ለኲልክሙ </a:t>
            </a:r>
            <a:endParaRPr lang="am-ET" sz="54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pPr algn="just"/>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ምስለ </a:t>
            </a:r>
            <a:r>
              <a:rPr lang="am-ET"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መንፈስከ</a:t>
            </a:r>
            <a:endParaRPr lang="en-US" sz="6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r>
              <a:rPr lang="en-US" sz="60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t>
            </a:r>
            <a:r>
              <a:rPr lang="en-US" sz="60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t>
            </a:r>
            <a:r>
              <a:rPr lang="am-ET" sz="5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ጸልዩ</a:t>
            </a:r>
          </a:p>
        </p:txBody>
      </p:sp>
    </p:spTree>
    <p:extLst>
      <p:ext uri="{BB962C8B-B14F-4D97-AF65-F5344CB8AC3E}">
        <p14:creationId xmlns:p14="http://schemas.microsoft.com/office/powerpoint/2010/main" val="57614223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0342"/>
            <a:ext cx="12192000" cy="6683187"/>
          </a:xfrm>
        </p:spPr>
        <p:txBody>
          <a:bodyPr>
            <a:normAutofit fontScale="92500" lnSpcReduction="20000"/>
          </a:bodyPr>
          <a:lstStyle/>
          <a:p>
            <a:pPr marL="0" indent="0" algn="just">
              <a:lnSpc>
                <a:spcPct val="120000"/>
              </a:lnSpc>
              <a:buNone/>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ኣቡነ ዘበሰማያት </a:t>
            </a:r>
            <a:r>
              <a:rPr lang="en-US"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ይትቀደስ ስምከ፡ ትምጻእ መንግሥትከ  ወይኩን ፈቃድከ፡ በከመ በሰማይ ከማሁ በምድር። ሲሳየነ ዘለለዕለትነ ሀበነ ዮም ኅድግ ለነ፡ ኣበሳነ ወጌጋየነ፡ ከመ ንሕነኒ ነኀድግ ለዘአበሰ ለነ፡ ኢታብአነ እግዚኦ ውስተ መንሱት፡ ኣላ ኣድኅነነ ወባል ሓነ እምኲሉ እኩይ፡ እስመ ዚአከ ይእቲ መንግሥት ኃይል ወስብሐት ለዓለመ ዓለም።</a:t>
            </a:r>
          </a:p>
          <a:p>
            <a:pPr marL="0" indent="0" algn="just">
              <a:lnSpc>
                <a:spcPct val="120000"/>
              </a:lnSpc>
              <a:buNone/>
            </a:pPr>
            <a:endParaRPr lang="en-US" sz="1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algn="just"/>
            <a:r>
              <a:rPr lang="en-GB"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በከመ ምሕረትከ ኣምላክነ ወ</a:t>
            </a:r>
            <a:r>
              <a:rPr lang="en-US"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ኮ በከመ ኣበሳነ</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r>
              <a:rPr lang="en-US" sz="32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outerShdw blurRad="38100" dist="38100" dir="2700000" algn="tl">
                    <a:srgbClr val="000000">
                      <a:alpha val="43137"/>
                    </a:srgbClr>
                  </a:outerShdw>
                </a:effectLst>
              </a:rPr>
              <a:t>/፫</a:t>
            </a:r>
            <a:r>
              <a:rPr lang="en-US" sz="3200" b="1" spc="50" baseline="3000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outerShdw blurRad="38100" dist="38100" dir="2700000" algn="tl">
                    <a:srgbClr val="000000">
                      <a:alpha val="43137"/>
                    </a:srgbClr>
                  </a:outerShdw>
                </a:effectLst>
              </a:rPr>
              <a:t>ተ</a:t>
            </a:r>
            <a:r>
              <a:rPr lang="en-US" sz="32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outerShdw blurRad="38100" dist="38100" dir="2700000" algn="tl">
                    <a:srgbClr val="000000">
                      <a:alpha val="43137"/>
                    </a:srgbClr>
                  </a:outerShdw>
                </a:effectLst>
              </a:rPr>
              <a:t> ግዜ/</a:t>
            </a:r>
            <a:endParaRPr lang="am-ET" sz="35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glow rad="53100">
                  <a:schemeClr val="accent6">
                    <a:satMod val="180000"/>
                    <a:alpha val="30000"/>
                  </a:schemeClr>
                </a:glow>
                <a:outerShdw blurRad="38100" dist="38100" dir="2700000" algn="tl">
                  <a:srgbClr val="000000">
                    <a:alpha val="43137"/>
                  </a:srgbClr>
                </a:outerShdw>
              </a:effectLst>
            </a:endParaRPr>
          </a:p>
        </p:txBody>
      </p:sp>
    </p:spTree>
    <p:extLst>
      <p:ext uri="{BB962C8B-B14F-4D97-AF65-F5344CB8AC3E}">
        <p14:creationId xmlns:p14="http://schemas.microsoft.com/office/powerpoint/2010/main" val="311281670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57198"/>
            <a:ext cx="12191999" cy="5768788"/>
          </a:xfrm>
        </p:spPr>
        <p:txBody>
          <a:bodyPr>
            <a:normAutofit fontScale="92500"/>
          </a:bodyPr>
          <a:lstStyle/>
          <a:p>
            <a:pPr algn="just"/>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ሰራዊ</a:t>
            </a:r>
            <a:r>
              <a:rPr lang="en-US"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ተ</a:t>
            </a:r>
            <a:r>
              <a:rPr lang="am-ET"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መላእክቲሁ ለመድ</a:t>
            </a:r>
            <a:r>
              <a:rPr lang="en-US"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ኃ</a:t>
            </a:r>
            <a:r>
              <a:rPr lang="am-ET"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ኔ ዓለም:</a:t>
            </a:r>
            <a:endParaRPr lang="en-US"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algn="just"/>
            <a:r>
              <a:rPr lang="en-US"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ዬ፡ </a:t>
            </a:r>
            <a:r>
              <a:rPr lang="en-US" sz="63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ዬ፡ ዬ፡ </a:t>
            </a:r>
            <a:r>
              <a:rPr lang="am-ET"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ይቀውሙ ቅድሜሁ ለመድ</a:t>
            </a:r>
            <a:r>
              <a:rPr lang="en-US"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ኃ</a:t>
            </a:r>
            <a:r>
              <a:rPr lang="am-ET"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ኔ ዓለም</a:t>
            </a:r>
            <a:r>
              <a:rPr lang="en-US"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p>
          <a:p>
            <a:pPr algn="just"/>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ወይኬልልዎ ለመድኃኔ ዓለም፡</a:t>
            </a:r>
          </a:p>
          <a:p>
            <a:pPr algn="just"/>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3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ዬ፡ ዬ፡ ዬ</a:t>
            </a:r>
            <a:r>
              <a:rPr lang="en-US"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ሥጋሁ ወደሙ ለመድኃኔ ዓለም፡</a:t>
            </a:r>
          </a:p>
          <a:p>
            <a:pPr algn="just"/>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ወንብጻሕ ቅድመ ገጹ ለመድኃኔ ዓለም፡</a:t>
            </a:r>
          </a:p>
          <a:p>
            <a:pPr algn="just"/>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3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ዬ፡ ዬ፡ ዬ</a:t>
            </a:r>
            <a:r>
              <a:rPr lang="en-US"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በኣሚነ ዚአሁ ሓዋርያት ተለዉ አሠሮ።</a:t>
            </a:r>
            <a:endParaRPr lang="am-ET" sz="63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330280848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5492" y="188257"/>
            <a:ext cx="11793073" cy="6454590"/>
          </a:xfrm>
        </p:spPr>
        <p:txBody>
          <a:bodyPr>
            <a:normAutofit fontScale="92500" lnSpcReduction="10000"/>
          </a:bodyPr>
          <a:lstStyle/>
          <a:p>
            <a:pPr marL="0" indent="0" algn="just">
              <a:buNone/>
            </a:pP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47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እለ ትቀውሙ </a:t>
            </a:r>
            <a:r>
              <a:rPr lang="am-ET" sz="47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47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 . </a:t>
            </a:r>
            <a:r>
              <a:rPr lang="am-ET" sz="47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a:t>
            </a:r>
            <a:endParaRPr lang="en-US" sz="47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marL="0" indent="0" algn="just">
              <a:buNone/>
            </a:pPr>
            <a:r>
              <a:rPr lang="en-US" sz="47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47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ስግዱ ለእግዚኣብሔር በፍርሀት</a:t>
            </a:r>
            <a:endParaRPr lang="am-ET" sz="47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just"/>
            <a:r>
              <a:rPr lang="en-US" sz="59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9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ቅድሜከ እግዚኦ፡ ንሰግድ ወንሴብሐከ</a:t>
            </a:r>
            <a:endParaRPr lang="am-ET" sz="59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r>
              <a:rPr lang="en-US" sz="4400" dirty="0">
                <a:solidFill>
                  <a:schemeClr val="accent1">
                    <a:lumMod val="75000"/>
                  </a:schemeClr>
                </a:solidFill>
              </a:rPr>
              <a:t>  </a:t>
            </a:r>
            <a:r>
              <a:rPr lang="en-US" sz="4400" dirty="0" smtClean="0">
                <a:solidFill>
                  <a:schemeClr val="accent1">
                    <a:lumMod val="75000"/>
                  </a:schemeClr>
                </a:solidFill>
              </a:rPr>
              <a:t> </a:t>
            </a:r>
            <a:r>
              <a:rPr lang="en-US" sz="47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ነጽር</a:t>
            </a:r>
          </a:p>
          <a:p>
            <a:pPr marL="0" indent="0" algn="just">
              <a:buNone/>
            </a:pPr>
            <a:r>
              <a:rPr lang="en-US" sz="47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47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47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ቅድሳት ለቅዱሳን</a:t>
            </a:r>
            <a:endParaRPr lang="am-ET" sz="47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pPr algn="just"/>
            <a:r>
              <a:rPr lang="en-US" sz="59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9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ኣሓዱ አብ ቅዱስ፡ ኣሓዱ ወልድ ቅዱስ፡ ኣሓዱ ውእቱ መንፈስ ቅዱስ።</a:t>
            </a:r>
            <a:endParaRPr lang="en-US" sz="59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r>
              <a:rPr lang="en-US" sz="47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47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እግዚኣብሔር ምስለ ኲልክሙ</a:t>
            </a:r>
            <a:endParaRPr lang="am-ET" sz="47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pPr algn="just"/>
            <a:r>
              <a:rPr lang="en-US" sz="59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ምስለ መንፈስከ።</a:t>
            </a:r>
          </a:p>
          <a:p>
            <a:pPr algn="just"/>
            <a:endParaRPr lang="en-US" sz="26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49189677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905435" y="2059450"/>
            <a:ext cx="10515600" cy="1325563"/>
          </a:xfrm>
          <a:prstGeom prst="rect">
            <a:avLst/>
          </a:prstGeom>
        </p:spPr>
        <p:txBody>
          <a:bodyPr vert="horz" lIns="91440" tIns="45720" rIns="91440" bIns="45720" rtlCol="0" anchor="ctr">
            <a:noAutofit/>
            <a:scene3d>
              <a:camera prst="orthographicFront"/>
              <a:lightRig rig="flat" dir="tl">
                <a:rot lat="0" lon="0" rev="6600000"/>
              </a:lightRig>
            </a:scene3d>
            <a:sp3d extrusionH="25400" contourW="8890">
              <a:bevelT w="38100" h="31750" prst="softRound"/>
              <a:contourClr>
                <a:schemeClr val="accent2">
                  <a:shade val="75000"/>
                </a:schemeClr>
              </a:contourClr>
            </a:sp3d>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3800" b="1" dirty="0" smtClean="0">
                <a:ln w="11430"/>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5">
                      <a:satMod val="175000"/>
                      <a:alpha val="40000"/>
                    </a:schemeClr>
                  </a:glow>
                  <a:outerShdw blurRad="60007" dist="200025" dir="15000000" sy="30000" kx="-1800000" algn="bl" rotWithShape="0">
                    <a:prstClr val="black">
                      <a:alpha val="32000"/>
                    </a:prstClr>
                  </a:outerShdw>
                </a:effectLst>
              </a:rPr>
              <a:t>በግዜ እግዚኦታ</a:t>
            </a:r>
            <a:endParaRPr lang="en-US" sz="9600" b="1" dirty="0">
              <a:ln w="11430"/>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5">
                    <a:satMod val="175000"/>
                    <a:alpha val="40000"/>
                  </a:schemeClr>
                </a:glow>
                <a:outerShdw blurRad="60007" dist="200025" dir="15000000" sy="30000" kx="-1800000" algn="bl" rotWithShape="0">
                  <a:prstClr val="black">
                    <a:alpha val="32000"/>
                  </a:prstClr>
                </a:outerShdw>
              </a:effectLst>
            </a:endParaRPr>
          </a:p>
        </p:txBody>
      </p:sp>
    </p:spTree>
    <p:extLst>
      <p:ext uri="{BB962C8B-B14F-4D97-AF65-F5344CB8AC3E}">
        <p14:creationId xmlns:p14="http://schemas.microsoft.com/office/powerpoint/2010/main" val="396441868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3069" y="161364"/>
            <a:ext cx="10192871" cy="6562165"/>
          </a:xfrm>
        </p:spPr>
        <p:txBody>
          <a:bodyPr>
            <a:normAutofit fontScale="70000" lnSpcReduction="20000"/>
          </a:bodyPr>
          <a:lstStyle/>
          <a:p>
            <a:pPr marL="0" indent="0" algn="just">
              <a:buNone/>
            </a:pP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እለውስተ ንስሐ . . . . .  </a:t>
            </a:r>
          </a:p>
          <a:p>
            <a:pPr marL="0" indent="0" algn="just">
              <a:buNone/>
            </a:pP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ተን</a:t>
            </a:r>
            <a:r>
              <a:rPr lang="en-U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ሥ</a:t>
            </a:r>
            <a:r>
              <a:rPr lang="am-ET"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ኡ ለጸሎት . . . . . </a:t>
            </a:r>
          </a:p>
          <a:p>
            <a:pPr algn="just"/>
            <a:r>
              <a:rPr lang="am-ET"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እግዚኦ </a:t>
            </a:r>
            <a:r>
              <a:rPr lang="am-ET" sz="4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ተ</a:t>
            </a:r>
            <a:r>
              <a:rPr lang="en-US" sz="4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ሣሀ</a:t>
            </a:r>
            <a:r>
              <a:rPr lang="am-ET" sz="4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ለነ</a:t>
            </a:r>
          </a:p>
          <a:p>
            <a:pPr marL="0" indent="0" algn="just">
              <a:buNone/>
            </a:pPr>
            <a:r>
              <a:rPr lang="en-US" sz="4400" dirty="0">
                <a:solidFill>
                  <a:schemeClr val="accent1">
                    <a:lumMod val="75000"/>
                  </a:schemeClr>
                </a:solidFill>
              </a:rPr>
              <a:t>  </a:t>
            </a:r>
            <a:r>
              <a:rPr lang="am-ET" sz="44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ሰላም </a:t>
            </a:r>
            <a:r>
              <a:rPr lang="am-ET"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ለኲልክሙ </a:t>
            </a:r>
            <a:endParaRPr lang="am-ET" sz="44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pPr algn="just"/>
            <a:r>
              <a:rPr lang="am-ET"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ምስለ መንፈስከ</a:t>
            </a:r>
            <a:endPar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ሥጋ ቅዱስ . . . . . . . በአሚን</a:t>
            </a:r>
            <a:endParaRPr lang="am-ET" sz="4800" dirty="0">
              <a:blipFill>
                <a:blip r:embed="rId2"/>
                <a:tile tx="0" ty="0" sx="100000" sy="100000" flip="none" algn="tl"/>
              </a:blipFill>
            </a:endParaRPr>
          </a:p>
          <a:p>
            <a:pPr algn="just"/>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ኣሜን</a:t>
            </a:r>
            <a:endPar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r>
              <a:rPr lang="en-US" sz="4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ደም ክቡር . . . . . . .  በአሚን</a:t>
            </a:r>
            <a:endParaRPr lang="am-ET" sz="4800" dirty="0">
              <a:blipFill>
                <a:blip r:embed="rId2"/>
                <a:tile tx="0" ty="0" sx="100000" sy="100000" flip="none" algn="tl"/>
              </a:blipFill>
            </a:endParaRPr>
          </a:p>
          <a:p>
            <a:pPr algn="just"/>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ኣሜን</a:t>
            </a:r>
            <a:endPar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r>
              <a:rPr lang="en-US" sz="48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እስመ ዝንቱ </a:t>
            </a:r>
            <a:r>
              <a:rPr lang="en-US" sz="48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 . </a:t>
            </a: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ዘበአማን</a:t>
            </a:r>
            <a:endParaRPr lang="am-ET" sz="4800" dirty="0">
              <a:blipFill>
                <a:blip r:embed="rId2"/>
                <a:tile tx="0" ty="0" sx="100000" sy="100000" flip="none" algn="tl"/>
              </a:blipFill>
            </a:endParaRPr>
          </a:p>
          <a:p>
            <a:pPr algn="just"/>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ኣሜን</a:t>
            </a:r>
            <a:endPar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lgn="just">
              <a:buNone/>
            </a:pPr>
            <a:r>
              <a:rPr lang="en-US" sz="4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አአምን </a:t>
            </a:r>
            <a:r>
              <a:rPr lang="en-US" sz="48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 </a:t>
            </a:r>
            <a:r>
              <a:rPr lang="en-US" sz="48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ኲልነ</a:t>
            </a:r>
            <a:endParaRPr lang="am-ET" sz="4800" dirty="0">
              <a:blipFill>
                <a:blip r:embed="rId2"/>
                <a:tile tx="0" ty="0" sx="100000" sy="100000" flip="none" algn="tl"/>
              </a:blipFill>
            </a:endParaRPr>
          </a:p>
          <a:p>
            <a:pPr algn="just"/>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ኣሜን</a:t>
            </a:r>
            <a:r>
              <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endParaRPr lang="am-ET" sz="35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171063976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215152" y="268943"/>
            <a:ext cx="11793071" cy="6373905"/>
          </a:xfrm>
        </p:spPr>
        <p:txBody>
          <a:bodyPr>
            <a:normAutofit fontScale="90000"/>
          </a:bodyPr>
          <a:lstStyle/>
          <a:p>
            <a:pPr algn="just" eaLnBrk="1" hangingPunct="1"/>
            <a:r>
              <a:rPr lang="en-US"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ኦ ኢየሱስ ክርስቶስ ጎይታይ፡ ኣነ ስለዘቖጣዕኩኻን ዘሕዘንኩኻን፡ ኣብ ቅድሜኻ ክፉእ ስለዝገበርኩን፡ ነቲ ብኣርኣያኻን ብኣምሳልካን ንዝፈጠርካዮ ነፍሰይን ሥጋይን፡ ትእዛዝካ ብምፍራስ ስለዘርከስኩን፡ ሓንቲ ጽቡቕ ግብሪ</a:t>
            </a:r>
            <a:r>
              <a:rPr lang="en-US" sz="5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እኳ ስለዘይብለይን፡ ናብ ዝረኸሰት ቤተይ ክትኣቱ ኣይግብኣንን እዩ፡ እንተኾነ ግን ምእንቲ ጥበበይና ስራሕካን፡ ምእንቲ ድኅነተይ ሰብ ምዃንካን፡ ምእንቲ ክቡር መስቀልካን፡ ምእንቲ ሕይወት እትህብ ሞትካን፡ ምእንት’ቲ ኣብ ሳልሳይ መዓልቲ ምትንሣእካን</a:t>
            </a:r>
            <a:endParaRPr lang="en-US" sz="5600" b="1" u="sng"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214226618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121023" y="242046"/>
            <a:ext cx="11900647" cy="6373905"/>
          </a:xfrm>
        </p:spPr>
        <p:txBody>
          <a:bodyPr>
            <a:normAutofit fontScale="90000"/>
          </a:bodyPr>
          <a:lstStyle/>
          <a:p>
            <a:pPr algn="just" eaLnBrk="1" hangingPunct="1"/>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ኦ ጐይታይ፡ እንካብ ኲሉ ኣበሳን መርገምን፡ እንካብ ኲሉ ኃጢኣትን ርኽሰትን ከተንጽሓኒ እልምነካን እምሕፀነካን ኣሎኹ፡ ቅዱስ ምስጢርካ እንክቕበል፡ ብብዝኂ ሕያውነትካ ደኣ መሓረንን ይቕረ በለለይን እምበር፡ ንኽስን ንፍርድን</a:t>
            </a:r>
            <a:r>
              <a:rPr lang="en-US"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ኣይኹነኒ።</a:t>
            </a:r>
            <a:b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br>
            <a:r>
              <a:rPr lang="en-US"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ኦ ናይ ዓለም ሕይወት፡ ብናይ ቅድስቲ ድንግል እግዚእትነ ማርያምን፡ ናይ ዮሓንስ መጥምቕ ልመናን፡ ብናይ ኲላቶም ቅዱሳን መላእኽትን፡ ብናይ ኩላቶም ምእንቲ ጽድቂ ዚጋደሉ ሰማዕታትን ጻድቃንን ጸሎት፡ በዚ ቅዱስ ምሥጢርካ ናይ ኃጢኣተይ ስርየትን፡ ናይ ነፍሰይን ናይ ሥጋይን ሕይወት ሃበኒ፡ ንዘለዓለም ዓለም፡ ኣሜን።</a:t>
            </a:r>
            <a:endParaRPr lang="en-US" sz="5200" b="1" u="sng"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308962173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6667" y="215153"/>
            <a:ext cx="11778110" cy="6642847"/>
          </a:xfrm>
        </p:spPr>
        <p:txBody>
          <a:bodyPr>
            <a:normAutofit lnSpcReduction="10000"/>
          </a:bodyPr>
          <a:lstStyle/>
          <a:p>
            <a:pPr marL="0" indent="0" algn="just">
              <a:buNone/>
            </a:pPr>
            <a:r>
              <a:rPr lang="en-US"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ጸልዩ በእንቲኣነ ወብእንተ . . . . . . . . </a:t>
            </a:r>
          </a:p>
          <a:p>
            <a:pPr marL="0" indent="0" algn="just">
              <a:buNone/>
            </a:pPr>
            <a:endParaRPr lang="am-ET" sz="2400" dirty="0"/>
          </a:p>
          <a:p>
            <a:pPr algn="just"/>
            <a:r>
              <a:rPr lang="en-US" sz="48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ቅዱስ ቅዱስ ቅዱስ: </a:t>
            </a:r>
            <a:r>
              <a:rPr lang="en-US"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ሉስ ዘኢይትነገር: ሀበኒ ከመ እን</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ሣ</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 ለሕይወት ዘንተ </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ሥ</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ጋ ወደ</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ዘእንበለ </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ኲ</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ነኔ።</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ሀበ</a:t>
            </a:r>
            <a:r>
              <a:rPr lang="en-US"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ኒ</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እግበር ፍሬ ዘያ</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ሠ</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ምረከ፡ ከመ ኣስተርኢ በስብ</a:t>
            </a:r>
            <a:r>
              <a:rPr lang="en-US"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ሐ</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ቲከ ወእ</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ሕ</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የው</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ለከ</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እንዘ</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እገብር ዘዚአከ ፈቃደ</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በተ</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ምኖ እጼውዐከ አብ፡</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ወእጼውዕ መንግሥተከ፡ ይትቀደ</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ስ</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እግዚኦ ስምከ በላዕሌየ፡</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እስመ </a:t>
            </a:r>
            <a:r>
              <a:rPr lang="en-US"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ኃ</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ያል </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አ</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ንተ እኩት ወስቡ</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ሕ</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ወለከ ስብ</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ሐ</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ት ለዓለ</a:t>
            </a:r>
            <a:r>
              <a:rPr lang="en-US"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a:t>
            </a:r>
            <a:r>
              <a:rPr lang="am-ET" sz="52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ዓለም።</a:t>
            </a:r>
            <a:endParaRPr lang="en-US" sz="52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342624245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834360" y="2059450"/>
            <a:ext cx="10515600" cy="1325563"/>
          </a:xfrm>
          <a:prstGeom prst="rect">
            <a:avLst/>
          </a:prstGeom>
        </p:spPr>
        <p:txBody>
          <a:bodyPr vert="horz" lIns="91440" tIns="45720" rIns="91440" bIns="45720" rtlCol="0" anchor="ctr">
            <a:noAutofit/>
            <a:scene3d>
              <a:camera prst="orthographicFront"/>
              <a:lightRig rig="flat" dir="tl">
                <a:rot lat="0" lon="0" rev="6600000"/>
              </a:lightRig>
            </a:scene3d>
            <a:sp3d extrusionH="25400" contourW="8890">
              <a:bevelT w="38100" h="31750" prst="softRound"/>
              <a:contourClr>
                <a:schemeClr val="accent2">
                  <a:shade val="75000"/>
                </a:schemeClr>
              </a:contourClr>
            </a:sp3d>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3800" b="1" dirty="0" smtClean="0">
                <a:ln w="11430"/>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5">
                      <a:satMod val="175000"/>
                      <a:alpha val="40000"/>
                    </a:schemeClr>
                  </a:glow>
                  <a:outerShdw blurRad="60007" dist="200025" dir="15000000" sy="30000" kx="-1800000" algn="bl" rotWithShape="0">
                    <a:prstClr val="black">
                      <a:alpha val="32000"/>
                    </a:prstClr>
                  </a:outerShdw>
                </a:effectLst>
              </a:rPr>
              <a:t>እምድኅረ ቊርባን</a:t>
            </a:r>
            <a:endParaRPr lang="en-US" sz="13800" b="1" dirty="0">
              <a:ln w="11430"/>
              <a:blipFill dpi="0" rotWithShape="1">
                <a:blip r:embed="rId2">
                  <a:extLst>
                    <a:ext uri="{28A0092B-C50C-407E-A947-70E740481C1C}">
                      <a14:useLocalDpi xmlns:a14="http://schemas.microsoft.com/office/drawing/2010/main" val="0"/>
                    </a:ext>
                  </a:extLst>
                </a:blip>
                <a:srcRect/>
                <a:stretch>
                  <a:fillRect/>
                </a:stretch>
              </a:blipFill>
              <a:effectLst>
                <a:glow rad="63500">
                  <a:schemeClr val="accent5">
                    <a:satMod val="175000"/>
                    <a:alpha val="40000"/>
                  </a:schemeClr>
                </a:glow>
                <a:outerShdw blurRad="60007" dist="200025" dir="15000000" sy="30000" kx="-1800000" algn="bl" rotWithShape="0">
                  <a:prstClr val="black">
                    <a:alpha val="32000"/>
                  </a:prstClr>
                </a:outerShdw>
              </a:effectLst>
            </a:endParaRPr>
          </a:p>
        </p:txBody>
      </p:sp>
    </p:spTree>
    <p:extLst>
      <p:ext uri="{BB962C8B-B14F-4D97-AF65-F5344CB8AC3E}">
        <p14:creationId xmlns:p14="http://schemas.microsoft.com/office/powerpoint/2010/main" val="243172074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129" y="161364"/>
            <a:ext cx="12192000" cy="6521824"/>
          </a:xfrm>
        </p:spPr>
        <p:txBody>
          <a:bodyPr>
            <a:normAutofit lnSpcReduction="10000"/>
          </a:bodyPr>
          <a:lstStyle/>
          <a:p>
            <a:pPr marL="0" indent="0">
              <a:buNone/>
            </a:pPr>
            <a:r>
              <a:rPr lang="en-U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ነኣኲቶ ለእግዚኣብሔር</a:t>
            </a:r>
            <a:r>
              <a:rPr lang="am-ET"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 . . . </a:t>
            </a:r>
            <a:endPar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marL="0" indent="0">
              <a:buNone/>
            </a:pPr>
            <a:r>
              <a:rPr lang="en-US" sz="44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en-US"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ኣሌዕለከ. . . . . . ለዓለመ ዓለም</a:t>
            </a:r>
            <a:endParaRPr lang="am-ET" sz="44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ኣቡነ ዘበሰማያት ኢታብአነ እግዚኦ ውስተ መንሱት።</a:t>
            </a:r>
          </a:p>
          <a:p>
            <a:pPr marL="0" indent="0">
              <a:buNone/>
            </a:pP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ተመጠውነ ሥጋሁ </a:t>
            </a:r>
            <a:r>
              <a:rPr lang="am-ET"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am-ET"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 . . </a:t>
            </a:r>
            <a:endParaRPr lang="en-U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marL="0" indent="0">
              <a:buNone/>
            </a:pPr>
            <a:r>
              <a:rPr lang="en-US" sz="44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en-US"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ኲሎ ኣሚነ . </a:t>
            </a:r>
            <a:r>
              <a:rPr lang="en-US" sz="44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ለዓለመ </a:t>
            </a:r>
            <a:r>
              <a:rPr lang="en-US"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ዓለም</a:t>
            </a:r>
          </a:p>
          <a:p>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ኣቡነ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ዘበሰማያት ኢታብአነ እግዚኦ ውስተ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መንሱት።</a:t>
            </a:r>
            <a:endPar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a:p>
            <a:pPr marL="0" indent="0">
              <a:buNone/>
            </a:pP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ወናእኲቶ ይደልወነ </a:t>
            </a:r>
            <a:r>
              <a:rPr lang="am-ET"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 . . . </a:t>
            </a:r>
            <a:endParaRPr lang="en-U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marL="0" indent="0">
              <a:buNone/>
            </a:pPr>
            <a:r>
              <a:rPr lang="en-US" sz="44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en-US"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ስብሐተ እግዚኣብሔር </a:t>
            </a:r>
            <a:r>
              <a:rPr lang="en-US" sz="44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 ለዓለመ </a:t>
            </a:r>
            <a:r>
              <a:rPr lang="en-US"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ዓለም</a:t>
            </a:r>
          </a:p>
          <a:p>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ኣቡነ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ዘበሰማያት ኢታብአነ እግዚኦ ውስተ </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መንሱት።</a:t>
            </a:r>
            <a:endPar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257342558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70646"/>
            <a:ext cx="12192000" cy="4814048"/>
          </a:xfrm>
        </p:spPr>
        <p:txBody>
          <a:bodyPr>
            <a:normAutofit/>
          </a:bodyPr>
          <a:lstStyle/>
          <a:p>
            <a:pPr marL="0" indent="0">
              <a:buNone/>
            </a:pPr>
            <a:r>
              <a:rPr lang="en-US" sz="4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4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5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እግዚኣብሔር ዘኲሎ</a:t>
            </a:r>
            <a:r>
              <a:rPr lang="am-ET" sz="5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am-ET" sz="5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a:t>
            </a:r>
            <a:r>
              <a:rPr lang="am-ET" sz="5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a:t>
            </a:r>
            <a:r>
              <a:rPr lang="en-US" sz="5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ዓለም</a:t>
            </a:r>
            <a:r>
              <a:rPr lang="am-ET"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endParaRPr lang="am-ET" sz="44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pPr algn="just"/>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1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ኣሜን። ሃሌ-ሉያ ሃሌ-ሉያ፡ ኣቡነ ዘበሰማያት ይትቀደስ ስምከ፡ ስረይ ለነ፡ ኲሎ ኣበሳነ፡ ኢታብአን ውስተ መንሱት፡ እግዚኦ ኣድኅነነ እምዕለት እኪት፡ ወባልሐነ እምኲሉ መንሱት።</a:t>
            </a:r>
          </a:p>
        </p:txBody>
      </p:sp>
    </p:spTree>
    <p:extLst>
      <p:ext uri="{BB962C8B-B14F-4D97-AF65-F5344CB8AC3E}">
        <p14:creationId xmlns:p14="http://schemas.microsoft.com/office/powerpoint/2010/main" val="257342558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57200"/>
            <a:ext cx="12192000" cy="4961965"/>
          </a:xfrm>
        </p:spPr>
        <p:txBody>
          <a:bodyPr>
            <a:normAutofit/>
          </a:bodyPr>
          <a:lstStyle/>
          <a:p>
            <a:pPr marL="0" indent="0">
              <a:buNone/>
            </a:pPr>
            <a:r>
              <a:rPr lang="en-US" sz="44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a:t>
            </a:r>
            <a:r>
              <a:rPr lang="en-US" sz="5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ኦ ንጉሠ ሰላም. </a:t>
            </a:r>
            <a:r>
              <a:rPr lang="en-US" sz="5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 . . . . </a:t>
            </a:r>
            <a:r>
              <a:rPr lang="en-US" sz="5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ዓለም</a:t>
            </a:r>
          </a:p>
          <a:p>
            <a:pPr marL="0" indent="0">
              <a:buNone/>
            </a:pPr>
            <a:r>
              <a:rPr lang="en-US" sz="5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5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ኣድንኑ ኣርእስቲክሙ . . . . . . . ይባርክሙ</a:t>
            </a:r>
            <a:endParaRPr lang="am-ET" sz="5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r>
              <a:rPr lang="en-US"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ኣሜን፡ እግዚኣብሔር ይባርከነ ወይሠሀለነ።</a:t>
            </a:r>
          </a:p>
          <a:p>
            <a:pPr marL="0" indent="0">
              <a:buNone/>
            </a:pPr>
            <a:r>
              <a:rPr lang="en-US" sz="5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5000" b="1" dirty="0" smtClean="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rPr>
              <a:t>እግዚኣብሔር ምስለ ኲልክሙ</a:t>
            </a:r>
            <a:endParaRPr lang="am-ET" sz="5000" b="1" dirty="0">
              <a:ln w="18000">
                <a:solidFill>
                  <a:schemeClr val="accent2">
                    <a:satMod val="140000"/>
                  </a:schemeClr>
                </a:solidFill>
                <a:prstDash val="solid"/>
                <a:miter lim="800000"/>
              </a:ln>
              <a:blipFill>
                <a:blip r:embed="rId2"/>
                <a:tile tx="0" ty="0" sx="100000" sy="100000" flip="none" algn="tl"/>
              </a:blipFill>
              <a:effectLst>
                <a:outerShdw blurRad="25500" dist="23000" dir="7020000" algn="tl">
                  <a:srgbClr val="000000">
                    <a:alpha val="50000"/>
                  </a:srgbClr>
                </a:outerShdw>
              </a:effectLst>
            </a:endParaRPr>
          </a:p>
          <a:p>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6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ምስለ መንፈስከ</a:t>
            </a:r>
            <a:endParaRPr lang="am-ET" sz="6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Tree>
    <p:extLst>
      <p:ext uri="{BB962C8B-B14F-4D97-AF65-F5344CB8AC3E}">
        <p14:creationId xmlns:p14="http://schemas.microsoft.com/office/powerpoint/2010/main" val="93516970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6667" y="240534"/>
            <a:ext cx="11778110" cy="6396000"/>
          </a:xfrm>
        </p:spPr>
        <p:txBody>
          <a:bodyPr>
            <a:normAutofit/>
          </a:bodyPr>
          <a:lstStyle/>
          <a:p>
            <a:pPr marL="0" indent="0" algn="just">
              <a:buNone/>
            </a:pPr>
            <a:r>
              <a:rPr lang="en-US" sz="4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000" b="1" dirty="0" smtClean="0">
                <a:ln w="17780" cmpd="sng">
                  <a:solidFill>
                    <a:srgbClr val="FFFFFF"/>
                  </a:solidFill>
                  <a:prstDash val="solid"/>
                  <a:miter lim="800000"/>
                </a:ln>
                <a:blipFill>
                  <a:blip r:embed="rId2"/>
                  <a:stretch>
                    <a:fillRect/>
                  </a:stretch>
                </a:blipFill>
                <a:effectLst>
                  <a:outerShdw blurRad="50800" dist="38100" dir="16200000" rotWithShape="0">
                    <a:prstClr val="black">
                      <a:alpha val="40000"/>
                    </a:prstClr>
                  </a:outerShdw>
                </a:effectLst>
              </a:rPr>
              <a:t>ኣሜን</a:t>
            </a:r>
            <a:r>
              <a:rPr lang="en-US" sz="5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እግዚኣብሔር ይባርከነ ለኣግብርቲሁ በሰላም፡ ሥርየተ ይኩነነ</a:t>
            </a:r>
            <a:r>
              <a:rPr lang="en-US" sz="5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 </a:t>
            </a:r>
            <a:r>
              <a:rPr lang="en-US" sz="5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ዘተመጠውነ ሥጋሁ ቅዱሰ ወደሞ ክቡረ፡ ኣብሐነ በመንፈስ ንኪድ ኲሎ ኃይሎ ለጸላኢ በረከተ እዴከ ቅድስት እንተ ምልእተ ምሕረት ኪያሃ ንሴፎ ኲልነ፡ እምኲሉ ምግባር እኩይ ኣግሕሠነ፡ ውስተ ኲሉ ምግባረ ሠናይ ደምረነ፡ ብሩክ ዘወሀበነ ሥጋሁ ቅዱሰ ወደሞ ክቡረ፡ ጸጋ ነሣእነ ወሕይወተ ረከብነ በኃይለ መስቀሉ ለኢየሱስ ክርስቶስ። ኪያከ እግዚኦ ናአኲት ነሢአነ ጸጋ ዘእመንፈስ ቅዱስ</a:t>
            </a:r>
            <a:r>
              <a:rPr lang="am-ET" sz="5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rPr>
              <a:t>።</a:t>
            </a:r>
            <a:endParaRPr lang="en-US" sz="5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dist="38100" dir="16200000" rotWithShape="0">
                  <a:prstClr val="black">
                    <a:alpha val="40000"/>
                  </a:prstClr>
                </a:outerShdw>
              </a:effectLst>
            </a:endParaRPr>
          </a:p>
        </p:txBody>
      </p:sp>
      <p:sp>
        <p:nvSpPr>
          <p:cNvPr id="2" name="TextBox 1"/>
          <p:cNvSpPr txBox="1"/>
          <p:nvPr/>
        </p:nvSpPr>
        <p:spPr>
          <a:xfrm>
            <a:off x="7315197" y="5755341"/>
            <a:ext cx="4572001" cy="1015663"/>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6000" b="1" spc="50" dirty="0" smtClean="0">
                <a:ln w="11430"/>
                <a:blipFill>
                  <a:blip r:embed="rId3"/>
                  <a:stretch>
                    <a:fillRect/>
                  </a:stretch>
                </a:blipFill>
                <a:effectLst>
                  <a:outerShdw blurRad="76200" dist="50800" dir="5400000" algn="tl" rotWithShape="0">
                    <a:srgbClr val="000000">
                      <a:alpha val="65000"/>
                    </a:srgbClr>
                  </a:outerShdw>
                </a:effectLst>
                <a:latin typeface="Geez WashRa Bold" pitchFamily="2" charset="0"/>
              </a:rPr>
              <a:t>እትዉ በሰላም</a:t>
            </a:r>
            <a:endParaRPr lang="en-US" sz="4000" b="1" spc="50" dirty="0">
              <a:ln w="11430"/>
              <a:blipFill>
                <a:blip r:embed="rId3"/>
                <a:stretch>
                  <a:fillRect/>
                </a:stretch>
              </a:blipFill>
              <a:effectLst>
                <a:outerShdw blurRad="76200" dist="50800" dir="5400000" algn="tl" rotWithShape="0">
                  <a:srgbClr val="000000">
                    <a:alpha val="65000"/>
                  </a:srgbClr>
                </a:outerShdw>
              </a:effectLst>
              <a:latin typeface="Geez WashRa Bold" pitchFamily="2" charset="0"/>
            </a:endParaRPr>
          </a:p>
        </p:txBody>
      </p:sp>
    </p:spTree>
    <p:extLst>
      <p:ext uri="{BB962C8B-B14F-4D97-AF65-F5344CB8AC3E}">
        <p14:creationId xmlns:p14="http://schemas.microsoft.com/office/powerpoint/2010/main" val="79366156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3158</TotalTime>
  <Words>2029</Words>
  <Application>Microsoft Office PowerPoint</Application>
  <PresentationFormat>Custom</PresentationFormat>
  <Paragraphs>259</Paragraphs>
  <Slides>72</Slides>
  <Notes>0</Notes>
  <HiddenSlides>0</HiddenSlides>
  <MMClips>0</MMClips>
  <ScaleCrop>false</ScaleCrop>
  <HeadingPairs>
    <vt:vector size="4" baseType="variant">
      <vt:variant>
        <vt:lpstr>Theme</vt:lpstr>
      </vt:variant>
      <vt:variant>
        <vt:i4>1</vt:i4>
      </vt:variant>
      <vt:variant>
        <vt:lpstr>Slide Titles</vt:lpstr>
      </vt:variant>
      <vt:variant>
        <vt:i4>72</vt:i4>
      </vt:variant>
    </vt:vector>
  </HeadingPairs>
  <TitlesOfParts>
    <vt:vector size="73" baseType="lpstr">
      <vt:lpstr>Office Theme</vt:lpstr>
      <vt:lpstr>ሥርዓተ ቅዳሴ</vt:lpstr>
      <vt:lpstr> እምነ በሐ ቅድስት ቤተ-ክርስትያን ሥርጉት ኣረፋቲሀ ወስእልት በዕንቈ ጳዝዮን: እምነ በሐ ቅድስት ቤተ-ክርስትያን።</vt:lpstr>
      <vt:lpstr> መስቀል ኣብርሀ: በከዋክብት ኣሠርገወ ሰማየ: እምኩሉሰ ፀሐይ ኣርኣየ: መስቀል ኣብርሀ: በከዋክብት ኣሠርገወ ሰማየ።</vt:lpstr>
      <vt:lpstr> ኩሉ ዘገብራ ለጽድቅ ጻድቅ ውእቱ፡ ወዘያከብር ሰንበት: ኢይበል ፈላሲ ዘገብአ ኀበ እግዚኣብሔር፡ ይፈልጠኒኑ እምሕዝቡ፡ ኩሉ ዘገብራ ለጽድቅ ጻድቅ ውእቱ። ወዘያከብር ሰንበት።</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2ይ ንባብ</vt:lpstr>
      <vt:lpstr>PowerPoint Presentation</vt:lpstr>
      <vt:lpstr>3ይ ንባብ</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ወንጌል</vt:lpstr>
      <vt:lpstr>PowerPoint Presentation</vt:lpstr>
      <vt:lpstr>PowerPoint Presentation</vt:lpstr>
      <vt:lpstr>PowerPoint Presentation</vt:lpstr>
      <vt:lpstr>PowerPoint Presentation</vt:lpstr>
      <vt:lpstr>እምድኅረ ወንጌል</vt:lpstr>
      <vt:lpstr>PowerPoint Presentation</vt:lpstr>
      <vt:lpstr>PowerPoint Presentation</vt:lpstr>
      <vt:lpstr> ሰማይን ምድርን፡ ዚርአን ዘይርአን ዝፈጠረ፡ ኩሉ ብዝሓዘ ብሓደ እግዚር ኣብ ነኣምን።  ዓለም ከይተፈጥረ ምስኡ ህልው ብዝኾነ ብሓደ ወዱ ንኣብ ብጎይታና ብኢየሱስ ክርስቶስ ነኣምን፡ ንሱ ብርሃን እንካብ ብርሃን፡ ኡነተይና ኣምላኽ፡ ካብ ኡነተይና ኣምላኽ፡ ዝተወልደ እምበር ዘይተፈጥረ፡ ብመለኮቱ ምስ ኣብ ትኽክል ዝኾነ፡ ኩሉ ብኣኡ ዝኾነ</vt:lpstr>
      <vt:lpstr>PowerPoint Presentation</vt:lpstr>
      <vt:lpstr>PowerPoint Presentation</vt:lpstr>
      <vt:lpstr>PowerPoint Presentation</vt:lpstr>
      <vt:lpstr>PowerPoint Presentation</vt:lpstr>
      <vt:lpstr> ነኣምን በአሐዱ ኣምላኽ፡ እግዚኣብሔር ኣብ፡ ኣኃዜ ኲሉ ዓለም፡ ገባሬ ሰማያት ወምድር ዘያስተርኢ ወዘኢያስተርኢ። ወነኣምን በአሐዱ እግዚእ ኢየሱስ ክርስቶስ፡ ወልድ ኣብ ዋሕድ፡ ዘህልው ምስሌሁ፡ እም ቅድመ ይትፈጠር ዓለም።</vt:lpstr>
      <vt:lpstr>ብርሃን ዘእምብርሃን፡ ኣምላክ ዘእም ኣምላክ ዘበአማን፡ ዘተወልደ ወኣኮ ዘተገብረ። ዘዕሩይ ምስለአብ በመለኮቱ፡ ዘቦቱ ኲሉ ኮነ ወዘእንበሌሁስ ኣልቦ ዘኮነ ወኢምንትኒ ዘበሰማይኒ ወዘበምድርኒ።</vt:lpstr>
      <vt:lpstr> ዘበእንቲኣነ ለሰብእ ወበእንተ መድኀኒትነ ወረደ እምሰማያት፡ ወተሰብኣ ወተሠገወ እመንፈስ ቅዱስ እማርያም እምቅድስት ድንግል ኮነ ብእሴ። ወተሰቅለ በእንቲኣነ በመዋዕለ ጲላጦስ ጰንጤናዊ፡ ሓመ ወሞተ ወተቀብረ።</vt:lpstr>
      <vt:lpstr>ወተንሥአ እሙታን አመ ሣልስት ዕለት፡ በከመ ጽሑፍ ውስተ ቅድሳት መጻሕፍት። ወዐርገ በስብሐት ውስተ ሰማያት፡ ወነበረ በየማነ አቡሁ፡ ዳግመ ይመጽእ በስብሐት ይኰንን ሕያዋነ ወሙታነ፡ ወኣልቦ ማኅለቅት ለመንግሥቱ።</vt:lpstr>
      <vt:lpstr>ወነኣምን በመንፈስ ቅዱስ እግዚእ መሕየዊ ዘሠረጸ እምኣብ ወወልድ፡ ንስግድ ሎቱ ወንሰብሖ ምስለ ኣብ ወወልድ ዘነበበ በነቢያት።</vt:lpstr>
      <vt:lpstr>ወነኣምን በአሐቲ ጥምቀት ለሥርየተ ኀጢኣት። ወንሴፎ ትንሳኤ ሙታን፡ ወሕይወተ ዘይመጽእ ለዓለመ ዓለም ኣሜን።</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ኦ ኢየሱስ ክርስቶስ ጎይታይ፡ ኣነ ስለዘቖጣዕኩኻን ዘሕዘንኩኻን፡ ኣብ ቅድሜኻ ክፉእ ስለዝገበርኩን፡ ነቲ ብኣርኣያኻን ብኣምሳልካን ንዝፈጠርካዮ ነፍሰይን ሥጋይን፡ ትእዛዝካ ብምፍራስ ስለዘርከስኩን፡ ሓንቲ ጽቡቕ ግብሪ እኳ ስለዘይብለይን፡ ናብ ዝረኸሰት ቤተይ ክትኣቱ ኣይግብኣንን እዩ፡ እንተኾነ ግን ምእንቲ ጥበበይና ስራሕካን፡ ምእንቲ ድኅነተይ ሰብ ምዃንካን፡ ምእንቲ ክቡር መስቀልካን፡ ምእንቲ ሕይወት እትህብ ሞትካን፡ ምእንት’ቲ ኣብ ሳልሳይ መዓልቲ ምትንሣእካን</vt:lpstr>
      <vt:lpstr> ኦ ጐይታይ፡ እንካብ ኲሉ ኣበሳን መርገምን፡ እንካብ ኲሉ ኃጢኣትን ርኽሰትን ከተንጽሓኒ እልምነካን እምሕፀነካን ኣሎኹ፡ ቅዱስ ምስጢርካ እንክቕበል፡ ብብዝኂ ሕያውነትካ ደኣ መሓረንን ይቕረ በለለይን እምበር፡ ንኽስን ንፍርድን ኣይኹነኒ።  ኦ ናይ ዓለም ሕይወት፡ ብናይ ቅድስቲ ድንግል እግዚእትነ ማርያምን፡ ናይ ዮሓንስ መጥምቕ ልመናን፡ ብናይ ኲላቶም ቅዱሳን መላእኽትን፡ ብናይ ኩላቶም ምእንቲ ጽድቂ ዚጋደሉ ሰማዕታትን ጻድቃንን ጸሎት፡ በዚ ቅዱስ ምሥጢርካ ናይ ኃጢኣተይ ስርየትን፡ ናይ ነፍሰይን ናይ ሥጋይን ሕይወት ሃበኒ፡ ንዘለዓለም ዓለም፡ ኣሜን።</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ኩሉ ዘገብራ ለጽድቅ ጻድቅ ጻድቅ ውእቱ። ወዘያከብር ሰንበት ኢይበል ፈላሲ ዘገብአ ኀበ እግዚኣብሔር ይፈልጠኒኑ እምሕዝቡ፣</dc:title>
  <dc:creator>J</dc:creator>
  <cp:lastModifiedBy>Catholic Forever</cp:lastModifiedBy>
  <cp:revision>343</cp:revision>
  <dcterms:created xsi:type="dcterms:W3CDTF">2014-08-22T20:38:14Z</dcterms:created>
  <dcterms:modified xsi:type="dcterms:W3CDTF">2018-08-25T12:59:32Z</dcterms:modified>
</cp:coreProperties>
</file>